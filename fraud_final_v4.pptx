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9" d="100"/>
          <a:sy n="99" d="100"/>
        </p:scale>
        <p:origin x="54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746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2B"/>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B85C38"/>
          </a:solidFill>
          <a:ln w="12700">
            <a:solidFill>
              <a:srgbClr val="B85C38"/>
            </a:solidFill>
            <a:prstDash val="solid"/>
          </a:ln>
        </p:spPr>
      </p:sp>
      <p:sp>
        <p:nvSpPr>
          <p:cNvPr id="3" name="Text 1"/>
          <p:cNvSpPr/>
          <p:nvPr/>
        </p:nvSpPr>
        <p:spPr>
          <a:xfrm>
            <a:off x="502920" y="822960"/>
            <a:ext cx="8046720" cy="804672"/>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Détection de Fraude</a:t>
            </a:r>
            <a:endParaRPr lang="en-US" sz="4000" dirty="0"/>
          </a:p>
        </p:txBody>
      </p:sp>
      <p:sp>
        <p:nvSpPr>
          <p:cNvPr id="4" name="Text 2"/>
          <p:cNvSpPr/>
          <p:nvPr/>
        </p:nvSpPr>
        <p:spPr>
          <a:xfrm>
            <a:off x="502920" y="1627632"/>
            <a:ext cx="8046720" cy="502920"/>
          </a:xfrm>
          <a:prstGeom prst="rect">
            <a:avLst/>
          </a:prstGeom>
          <a:noFill/>
          <a:ln/>
        </p:spPr>
        <p:txBody>
          <a:bodyPr wrap="square" lIns="0" tIns="0" rIns="0" bIns="0" rtlCol="0" anchor="ctr"/>
          <a:lstStyle/>
          <a:p>
            <a:pPr marL="0" indent="0" algn="l">
              <a:buNone/>
            </a:pPr>
            <a:r>
              <a:rPr lang="en-US" sz="2200" dirty="0">
                <a:solidFill>
                  <a:srgbClr val="D4C9BC"/>
                </a:solidFill>
                <a:latin typeface="Calibri" pitchFamily="34" charset="0"/>
                <a:ea typeface="Calibri" pitchFamily="34" charset="-122"/>
                <a:cs typeface="Calibri" pitchFamily="34" charset="-120"/>
              </a:rPr>
              <a:t>par Carte Bancaire &amp; Analyse des Risques</a:t>
            </a:r>
            <a:endParaRPr lang="en-US" sz="2200" dirty="0"/>
          </a:p>
        </p:txBody>
      </p:sp>
      <p:sp>
        <p:nvSpPr>
          <p:cNvPr id="5" name="Shape 3"/>
          <p:cNvSpPr/>
          <p:nvPr/>
        </p:nvSpPr>
        <p:spPr>
          <a:xfrm>
            <a:off x="502920" y="3429000"/>
            <a:ext cx="1572768" cy="347472"/>
          </a:xfrm>
          <a:prstGeom prst="rect">
            <a:avLst/>
          </a:prstGeom>
          <a:solidFill>
            <a:srgbClr val="2A5C45"/>
          </a:solidFill>
          <a:ln w="12700">
            <a:solidFill>
              <a:srgbClr val="2A5C45"/>
            </a:solidFill>
            <a:prstDash val="solid"/>
          </a:ln>
        </p:spPr>
      </p:sp>
      <p:sp>
        <p:nvSpPr>
          <p:cNvPr id="6" name="Text 4"/>
          <p:cNvSpPr/>
          <p:nvPr/>
        </p:nvSpPr>
        <p:spPr>
          <a:xfrm>
            <a:off x="502920" y="3429000"/>
            <a:ext cx="1572768" cy="347472"/>
          </a:xfrm>
          <a:prstGeom prst="rect">
            <a:avLst/>
          </a:prstGeom>
          <a:noFill/>
          <a:ln/>
        </p:spPr>
        <p:txBody>
          <a:bodyPr wrap="square" lIns="0" tIns="0" rIns="0" bIns="0" rtlCol="0" anchor="ctr"/>
          <a:lstStyle/>
          <a:p>
            <a:pPr marL="0" indent="0" algn="ctr">
              <a:buNone/>
            </a:pPr>
            <a:r>
              <a:rPr lang="en-US" sz="1100" b="1" dirty="0">
                <a:solidFill>
                  <a:srgbClr val="FFFFFF"/>
                </a:solidFill>
              </a:rPr>
              <a:t>Python</a:t>
            </a:r>
            <a:endParaRPr lang="en-US" sz="1100" dirty="0"/>
          </a:p>
        </p:txBody>
      </p:sp>
      <p:sp>
        <p:nvSpPr>
          <p:cNvPr id="7" name="Shape 5"/>
          <p:cNvSpPr/>
          <p:nvPr/>
        </p:nvSpPr>
        <p:spPr>
          <a:xfrm>
            <a:off x="2203704" y="3429000"/>
            <a:ext cx="1572768" cy="347472"/>
          </a:xfrm>
          <a:prstGeom prst="rect">
            <a:avLst/>
          </a:prstGeom>
          <a:solidFill>
            <a:srgbClr val="2A5C45"/>
          </a:solidFill>
          <a:ln w="12700">
            <a:solidFill>
              <a:srgbClr val="2A5C45"/>
            </a:solidFill>
            <a:prstDash val="solid"/>
          </a:ln>
        </p:spPr>
      </p:sp>
      <p:sp>
        <p:nvSpPr>
          <p:cNvPr id="8" name="Text 6"/>
          <p:cNvSpPr/>
          <p:nvPr/>
        </p:nvSpPr>
        <p:spPr>
          <a:xfrm>
            <a:off x="2203704" y="3429000"/>
            <a:ext cx="1572768" cy="347472"/>
          </a:xfrm>
          <a:prstGeom prst="rect">
            <a:avLst/>
          </a:prstGeom>
          <a:noFill/>
          <a:ln/>
        </p:spPr>
        <p:txBody>
          <a:bodyPr wrap="square" lIns="0" tIns="0" rIns="0" bIns="0" rtlCol="0" anchor="ctr"/>
          <a:lstStyle/>
          <a:p>
            <a:pPr marL="0" indent="0" algn="ctr">
              <a:buNone/>
            </a:pPr>
            <a:r>
              <a:rPr lang="en-US" sz="1100" b="1" dirty="0">
                <a:solidFill>
                  <a:srgbClr val="FFFFFF"/>
                </a:solidFill>
              </a:rPr>
              <a:t>Scikit-learn</a:t>
            </a:r>
            <a:endParaRPr lang="en-US" sz="1100" dirty="0"/>
          </a:p>
        </p:txBody>
      </p:sp>
      <p:sp>
        <p:nvSpPr>
          <p:cNvPr id="9" name="Shape 7"/>
          <p:cNvSpPr/>
          <p:nvPr/>
        </p:nvSpPr>
        <p:spPr>
          <a:xfrm>
            <a:off x="3904488" y="3429000"/>
            <a:ext cx="1572768" cy="347472"/>
          </a:xfrm>
          <a:prstGeom prst="rect">
            <a:avLst/>
          </a:prstGeom>
          <a:solidFill>
            <a:srgbClr val="2A5C45"/>
          </a:solidFill>
          <a:ln w="12700">
            <a:solidFill>
              <a:srgbClr val="2A5C45"/>
            </a:solidFill>
            <a:prstDash val="solid"/>
          </a:ln>
        </p:spPr>
      </p:sp>
      <p:sp>
        <p:nvSpPr>
          <p:cNvPr id="10" name="Text 8"/>
          <p:cNvSpPr/>
          <p:nvPr/>
        </p:nvSpPr>
        <p:spPr>
          <a:xfrm>
            <a:off x="3904488" y="3429000"/>
            <a:ext cx="1572768" cy="347472"/>
          </a:xfrm>
          <a:prstGeom prst="rect">
            <a:avLst/>
          </a:prstGeom>
          <a:noFill/>
          <a:ln/>
        </p:spPr>
        <p:txBody>
          <a:bodyPr wrap="square" lIns="0" tIns="0" rIns="0" bIns="0" rtlCol="0" anchor="ctr"/>
          <a:lstStyle/>
          <a:p>
            <a:pPr marL="0" indent="0" algn="ctr">
              <a:buNone/>
            </a:pPr>
            <a:r>
              <a:rPr lang="en-US" sz="1100" b="1" dirty="0">
                <a:solidFill>
                  <a:srgbClr val="FFFFFF"/>
                </a:solidFill>
              </a:rPr>
              <a:t>XGBoost</a:t>
            </a:r>
            <a:endParaRPr lang="en-US" sz="1100" dirty="0"/>
          </a:p>
        </p:txBody>
      </p:sp>
      <p:sp>
        <p:nvSpPr>
          <p:cNvPr id="11" name="Shape 9"/>
          <p:cNvSpPr/>
          <p:nvPr/>
        </p:nvSpPr>
        <p:spPr>
          <a:xfrm>
            <a:off x="5605272" y="3429000"/>
            <a:ext cx="1572768" cy="347472"/>
          </a:xfrm>
          <a:prstGeom prst="rect">
            <a:avLst/>
          </a:prstGeom>
          <a:solidFill>
            <a:srgbClr val="2A5C45"/>
          </a:solidFill>
          <a:ln w="12700">
            <a:solidFill>
              <a:srgbClr val="2A5C45"/>
            </a:solidFill>
            <a:prstDash val="solid"/>
          </a:ln>
        </p:spPr>
      </p:sp>
      <p:sp>
        <p:nvSpPr>
          <p:cNvPr id="12" name="Text 10"/>
          <p:cNvSpPr/>
          <p:nvPr/>
        </p:nvSpPr>
        <p:spPr>
          <a:xfrm>
            <a:off x="5605272" y="3429000"/>
            <a:ext cx="1572768" cy="347472"/>
          </a:xfrm>
          <a:prstGeom prst="rect">
            <a:avLst/>
          </a:prstGeom>
          <a:noFill/>
          <a:ln/>
        </p:spPr>
        <p:txBody>
          <a:bodyPr wrap="square" lIns="0" tIns="0" rIns="0" bIns="0" rtlCol="0" anchor="ctr"/>
          <a:lstStyle/>
          <a:p>
            <a:pPr marL="0" indent="0" algn="ctr">
              <a:buNone/>
            </a:pPr>
            <a:r>
              <a:rPr lang="en-US" sz="1100" b="1" dirty="0">
                <a:solidFill>
                  <a:srgbClr val="FFFFFF"/>
                </a:solidFill>
              </a:rPr>
              <a:t>SHAP</a:t>
            </a:r>
            <a:endParaRPr lang="en-US" sz="1100" dirty="0"/>
          </a:p>
        </p:txBody>
      </p:sp>
      <p:sp>
        <p:nvSpPr>
          <p:cNvPr id="13" name="Shape 11"/>
          <p:cNvSpPr/>
          <p:nvPr/>
        </p:nvSpPr>
        <p:spPr>
          <a:xfrm>
            <a:off x="7306056" y="3429000"/>
            <a:ext cx="1572768" cy="347472"/>
          </a:xfrm>
          <a:prstGeom prst="rect">
            <a:avLst/>
          </a:prstGeom>
          <a:solidFill>
            <a:srgbClr val="B85C38"/>
          </a:solidFill>
          <a:ln w="12700">
            <a:solidFill>
              <a:srgbClr val="B85C38"/>
            </a:solidFill>
            <a:prstDash val="solid"/>
          </a:ln>
        </p:spPr>
      </p:sp>
      <p:sp>
        <p:nvSpPr>
          <p:cNvPr id="14" name="Text 12"/>
          <p:cNvSpPr/>
          <p:nvPr/>
        </p:nvSpPr>
        <p:spPr>
          <a:xfrm>
            <a:off x="7306056" y="3429000"/>
            <a:ext cx="1572768" cy="347472"/>
          </a:xfrm>
          <a:prstGeom prst="rect">
            <a:avLst/>
          </a:prstGeom>
          <a:noFill/>
          <a:ln/>
        </p:spPr>
        <p:txBody>
          <a:bodyPr wrap="square" lIns="0" tIns="0" rIns="0" bIns="0" rtlCol="0" anchor="ctr"/>
          <a:lstStyle/>
          <a:p>
            <a:pPr marL="0" indent="0" algn="ctr">
              <a:buNone/>
            </a:pPr>
            <a:r>
              <a:rPr lang="en-US" sz="1100" b="1" dirty="0">
                <a:solidFill>
                  <a:srgbClr val="FFFFFF"/>
                </a:solidFill>
              </a:rPr>
              <a:t>Power BI</a:t>
            </a:r>
            <a:endParaRPr lang="en-US" sz="1100" dirty="0"/>
          </a:p>
        </p:txBody>
      </p:sp>
      <p:sp>
        <p:nvSpPr>
          <p:cNvPr id="15" name="Shape 13"/>
          <p:cNvSpPr/>
          <p:nvPr/>
        </p:nvSpPr>
        <p:spPr>
          <a:xfrm>
            <a:off x="201168" y="4480560"/>
            <a:ext cx="8942832" cy="662940"/>
          </a:xfrm>
          <a:prstGeom prst="rect">
            <a:avLst/>
          </a:prstGeom>
          <a:solidFill>
            <a:srgbClr val="162222"/>
          </a:solidFill>
          <a:ln w="12700">
            <a:solidFill>
              <a:srgbClr val="162222"/>
            </a:solidFill>
            <a:prstDash val="solid"/>
          </a:ln>
        </p:spPr>
      </p:sp>
      <p:sp>
        <p:nvSpPr>
          <p:cNvPr id="16" name="Text 14"/>
          <p:cNvSpPr/>
          <p:nvPr/>
        </p:nvSpPr>
        <p:spPr>
          <a:xfrm>
            <a:off x="457200" y="4480560"/>
            <a:ext cx="8503920" cy="662940"/>
          </a:xfrm>
          <a:prstGeom prst="rect">
            <a:avLst/>
          </a:prstGeom>
          <a:noFill/>
          <a:ln/>
        </p:spPr>
        <p:txBody>
          <a:bodyPr wrap="square" rtlCol="0" anchor="ctr"/>
          <a:lstStyle/>
          <a:p>
            <a:pPr marL="0" indent="0" algn="ctr">
              <a:buNone/>
            </a:pPr>
            <a:r>
              <a:rPr lang="en-US" sz="1100" dirty="0">
                <a:solidFill>
                  <a:srgbClr val="8AABAA"/>
                </a:solidFill>
              </a:rPr>
              <a:t>Machine Learning appliqué à la détection de transactions frauduleuses sur un dataset fortement déséquilibré</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E"/>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C2B2B"/>
          </a:solidFill>
          <a:ln w="12700">
            <a:solidFill>
              <a:srgbClr val="1C2B2B"/>
            </a:solidFill>
            <a:prstDash val="solid"/>
          </a:ln>
        </p:spPr>
      </p:sp>
      <p:sp>
        <p:nvSpPr>
          <p:cNvPr id="3" name="Shape 1"/>
          <p:cNvSpPr/>
          <p:nvPr/>
        </p:nvSpPr>
        <p:spPr>
          <a:xfrm>
            <a:off x="0" y="0"/>
            <a:ext cx="201168" cy="658368"/>
          </a:xfrm>
          <a:prstGeom prst="rect">
            <a:avLst/>
          </a:prstGeom>
          <a:solidFill>
            <a:srgbClr val="B85C38"/>
          </a:solidFill>
          <a:ln w="12700">
            <a:solidFill>
              <a:srgbClr val="B85C38"/>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Pourquoi ce projet ?</a:t>
            </a:r>
            <a:endParaRPr lang="en-US" sz="2000" dirty="0"/>
          </a:p>
        </p:txBody>
      </p:sp>
      <p:sp>
        <p:nvSpPr>
          <p:cNvPr id="5" name="Shape 3"/>
          <p:cNvSpPr/>
          <p:nvPr/>
        </p:nvSpPr>
        <p:spPr>
          <a:xfrm>
            <a:off x="274320" y="804672"/>
            <a:ext cx="1993392" cy="91440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sp>
        <p:nvSpPr>
          <p:cNvPr id="6" name="Shape 4"/>
          <p:cNvSpPr/>
          <p:nvPr/>
        </p:nvSpPr>
        <p:spPr>
          <a:xfrm>
            <a:off x="274320" y="804672"/>
            <a:ext cx="1993392" cy="45720"/>
          </a:xfrm>
          <a:prstGeom prst="rect">
            <a:avLst/>
          </a:prstGeom>
          <a:solidFill>
            <a:srgbClr val="4A7068"/>
          </a:solidFill>
          <a:ln w="12700">
            <a:solidFill>
              <a:srgbClr val="4A7068"/>
            </a:solidFill>
            <a:prstDash val="solid"/>
          </a:ln>
        </p:spPr>
      </p:sp>
      <p:sp>
        <p:nvSpPr>
          <p:cNvPr id="7" name="Text 5"/>
          <p:cNvSpPr/>
          <p:nvPr/>
        </p:nvSpPr>
        <p:spPr>
          <a:xfrm>
            <a:off x="274320" y="850392"/>
            <a:ext cx="1993392" cy="502920"/>
          </a:xfrm>
          <a:prstGeom prst="rect">
            <a:avLst/>
          </a:prstGeom>
          <a:noFill/>
          <a:ln/>
        </p:spPr>
        <p:txBody>
          <a:bodyPr wrap="square" rtlCol="0" anchor="ctr"/>
          <a:lstStyle/>
          <a:p>
            <a:pPr marL="0" indent="0" algn="ctr">
              <a:buNone/>
            </a:pPr>
            <a:r>
              <a:rPr lang="en-US" sz="2200" b="1" dirty="0">
                <a:solidFill>
                  <a:srgbClr val="4A7068"/>
                </a:solidFill>
                <a:latin typeface="Calibri" pitchFamily="34" charset="0"/>
                <a:ea typeface="Calibri" pitchFamily="34" charset="-122"/>
                <a:cs typeface="Calibri" pitchFamily="34" charset="-120"/>
              </a:rPr>
              <a:t>284 807</a:t>
            </a:r>
            <a:endParaRPr lang="en-US" sz="2200" dirty="0"/>
          </a:p>
        </p:txBody>
      </p:sp>
      <p:sp>
        <p:nvSpPr>
          <p:cNvPr id="8" name="Text 6"/>
          <p:cNvSpPr/>
          <p:nvPr/>
        </p:nvSpPr>
        <p:spPr>
          <a:xfrm>
            <a:off x="274320" y="1371600"/>
            <a:ext cx="1993392" cy="274320"/>
          </a:xfrm>
          <a:prstGeom prst="rect">
            <a:avLst/>
          </a:prstGeom>
          <a:noFill/>
          <a:ln/>
        </p:spPr>
        <p:txBody>
          <a:bodyPr wrap="square" rtlCol="0" anchor="ctr"/>
          <a:lstStyle/>
          <a:p>
            <a:pPr marL="0" indent="0" algn="ctr">
              <a:buNone/>
            </a:pPr>
            <a:r>
              <a:rPr lang="en-US" sz="1000" dirty="0">
                <a:solidFill>
                  <a:srgbClr val="5C6B6B"/>
                </a:solidFill>
              </a:rPr>
              <a:t>transactions</a:t>
            </a:r>
            <a:endParaRPr lang="en-US" sz="1000" dirty="0"/>
          </a:p>
        </p:txBody>
      </p:sp>
      <p:sp>
        <p:nvSpPr>
          <p:cNvPr id="9" name="Shape 7"/>
          <p:cNvSpPr/>
          <p:nvPr/>
        </p:nvSpPr>
        <p:spPr>
          <a:xfrm>
            <a:off x="2450592" y="804672"/>
            <a:ext cx="1993392" cy="91440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sp>
        <p:nvSpPr>
          <p:cNvPr id="10" name="Shape 8"/>
          <p:cNvSpPr/>
          <p:nvPr/>
        </p:nvSpPr>
        <p:spPr>
          <a:xfrm>
            <a:off x="2450592" y="804672"/>
            <a:ext cx="1993392" cy="45720"/>
          </a:xfrm>
          <a:prstGeom prst="rect">
            <a:avLst/>
          </a:prstGeom>
          <a:solidFill>
            <a:srgbClr val="B85C38"/>
          </a:solidFill>
          <a:ln w="12700">
            <a:solidFill>
              <a:srgbClr val="B85C38"/>
            </a:solidFill>
            <a:prstDash val="solid"/>
          </a:ln>
        </p:spPr>
      </p:sp>
      <p:sp>
        <p:nvSpPr>
          <p:cNvPr id="11" name="Text 9"/>
          <p:cNvSpPr/>
          <p:nvPr/>
        </p:nvSpPr>
        <p:spPr>
          <a:xfrm>
            <a:off x="2450592" y="850392"/>
            <a:ext cx="1993392" cy="502920"/>
          </a:xfrm>
          <a:prstGeom prst="rect">
            <a:avLst/>
          </a:prstGeom>
          <a:noFill/>
          <a:ln/>
        </p:spPr>
        <p:txBody>
          <a:bodyPr wrap="square" rtlCol="0" anchor="ctr"/>
          <a:lstStyle/>
          <a:p>
            <a:pPr marL="0" indent="0" algn="ctr">
              <a:buNone/>
            </a:pPr>
            <a:r>
              <a:rPr lang="en-US" sz="2200" b="1" dirty="0">
                <a:solidFill>
                  <a:srgbClr val="B85C38"/>
                </a:solidFill>
                <a:latin typeface="Calibri" pitchFamily="34" charset="0"/>
                <a:ea typeface="Calibri" pitchFamily="34" charset="-122"/>
                <a:cs typeface="Calibri" pitchFamily="34" charset="-120"/>
              </a:rPr>
              <a:t>492</a:t>
            </a:r>
            <a:endParaRPr lang="en-US" sz="2200" dirty="0"/>
          </a:p>
        </p:txBody>
      </p:sp>
      <p:sp>
        <p:nvSpPr>
          <p:cNvPr id="12" name="Text 10"/>
          <p:cNvSpPr/>
          <p:nvPr/>
        </p:nvSpPr>
        <p:spPr>
          <a:xfrm>
            <a:off x="2450592" y="1371600"/>
            <a:ext cx="1993392" cy="274320"/>
          </a:xfrm>
          <a:prstGeom prst="rect">
            <a:avLst/>
          </a:prstGeom>
          <a:noFill/>
          <a:ln/>
        </p:spPr>
        <p:txBody>
          <a:bodyPr wrap="square" rtlCol="0" anchor="ctr"/>
          <a:lstStyle/>
          <a:p>
            <a:pPr marL="0" indent="0" algn="ctr">
              <a:buNone/>
            </a:pPr>
            <a:r>
              <a:rPr lang="en-US" sz="1000" dirty="0">
                <a:solidFill>
                  <a:srgbClr val="5C6B6B"/>
                </a:solidFill>
              </a:rPr>
              <a:t>fraudes réelles</a:t>
            </a:r>
            <a:endParaRPr lang="en-US" sz="1000" dirty="0"/>
          </a:p>
        </p:txBody>
      </p:sp>
      <p:sp>
        <p:nvSpPr>
          <p:cNvPr id="13" name="Shape 11"/>
          <p:cNvSpPr/>
          <p:nvPr/>
        </p:nvSpPr>
        <p:spPr>
          <a:xfrm>
            <a:off x="4626864" y="804672"/>
            <a:ext cx="1993392" cy="91440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sp>
        <p:nvSpPr>
          <p:cNvPr id="14" name="Shape 12"/>
          <p:cNvSpPr/>
          <p:nvPr/>
        </p:nvSpPr>
        <p:spPr>
          <a:xfrm>
            <a:off x="4626864" y="804672"/>
            <a:ext cx="1993392" cy="45720"/>
          </a:xfrm>
          <a:prstGeom prst="rect">
            <a:avLst/>
          </a:prstGeom>
          <a:solidFill>
            <a:srgbClr val="B85C38"/>
          </a:solidFill>
          <a:ln w="12700">
            <a:solidFill>
              <a:srgbClr val="B85C38"/>
            </a:solidFill>
            <a:prstDash val="solid"/>
          </a:ln>
        </p:spPr>
      </p:sp>
      <p:sp>
        <p:nvSpPr>
          <p:cNvPr id="15" name="Text 13"/>
          <p:cNvSpPr/>
          <p:nvPr/>
        </p:nvSpPr>
        <p:spPr>
          <a:xfrm>
            <a:off x="4626864" y="850392"/>
            <a:ext cx="1993392" cy="502920"/>
          </a:xfrm>
          <a:prstGeom prst="rect">
            <a:avLst/>
          </a:prstGeom>
          <a:noFill/>
          <a:ln/>
        </p:spPr>
        <p:txBody>
          <a:bodyPr wrap="square" rtlCol="0" anchor="ctr"/>
          <a:lstStyle/>
          <a:p>
            <a:pPr marL="0" indent="0" algn="ctr">
              <a:buNone/>
            </a:pPr>
            <a:r>
              <a:rPr lang="en-US" sz="2200" b="1" dirty="0">
                <a:solidFill>
                  <a:srgbClr val="B85C38"/>
                </a:solidFill>
                <a:latin typeface="Calibri" pitchFamily="34" charset="0"/>
                <a:ea typeface="Calibri" pitchFamily="34" charset="-122"/>
                <a:cs typeface="Calibri" pitchFamily="34" charset="-120"/>
              </a:rPr>
              <a:t>0,17 %</a:t>
            </a:r>
            <a:endParaRPr lang="en-US" sz="2200" dirty="0"/>
          </a:p>
        </p:txBody>
      </p:sp>
      <p:sp>
        <p:nvSpPr>
          <p:cNvPr id="16" name="Text 14"/>
          <p:cNvSpPr/>
          <p:nvPr/>
        </p:nvSpPr>
        <p:spPr>
          <a:xfrm>
            <a:off x="4626864" y="1371600"/>
            <a:ext cx="1993392" cy="274320"/>
          </a:xfrm>
          <a:prstGeom prst="rect">
            <a:avLst/>
          </a:prstGeom>
          <a:noFill/>
          <a:ln/>
        </p:spPr>
        <p:txBody>
          <a:bodyPr wrap="square" rtlCol="0" anchor="ctr"/>
          <a:lstStyle/>
          <a:p>
            <a:pPr marL="0" indent="0" algn="ctr">
              <a:buNone/>
            </a:pPr>
            <a:r>
              <a:rPr lang="en-US" sz="1000" dirty="0">
                <a:solidFill>
                  <a:srgbClr val="5C6B6B"/>
                </a:solidFill>
              </a:rPr>
              <a:t>taux de fraude</a:t>
            </a:r>
            <a:endParaRPr lang="en-US" sz="1000" dirty="0"/>
          </a:p>
        </p:txBody>
      </p:sp>
      <p:sp>
        <p:nvSpPr>
          <p:cNvPr id="17" name="Shape 15"/>
          <p:cNvSpPr/>
          <p:nvPr/>
        </p:nvSpPr>
        <p:spPr>
          <a:xfrm>
            <a:off x="6803136" y="804672"/>
            <a:ext cx="1993392" cy="91440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sp>
        <p:nvSpPr>
          <p:cNvPr id="18" name="Shape 16"/>
          <p:cNvSpPr/>
          <p:nvPr/>
        </p:nvSpPr>
        <p:spPr>
          <a:xfrm>
            <a:off x="6803136" y="804672"/>
            <a:ext cx="1993392" cy="45720"/>
          </a:xfrm>
          <a:prstGeom prst="rect">
            <a:avLst/>
          </a:prstGeom>
          <a:solidFill>
            <a:srgbClr val="4A7068"/>
          </a:solidFill>
          <a:ln w="12700">
            <a:solidFill>
              <a:srgbClr val="4A7068"/>
            </a:solidFill>
            <a:prstDash val="solid"/>
          </a:ln>
        </p:spPr>
      </p:sp>
      <p:sp>
        <p:nvSpPr>
          <p:cNvPr id="19" name="Text 17"/>
          <p:cNvSpPr/>
          <p:nvPr/>
        </p:nvSpPr>
        <p:spPr>
          <a:xfrm>
            <a:off x="6803136" y="850392"/>
            <a:ext cx="1993392" cy="502920"/>
          </a:xfrm>
          <a:prstGeom prst="rect">
            <a:avLst/>
          </a:prstGeom>
          <a:noFill/>
          <a:ln/>
        </p:spPr>
        <p:txBody>
          <a:bodyPr wrap="square" rtlCol="0" anchor="ctr"/>
          <a:lstStyle/>
          <a:p>
            <a:pPr marL="0" indent="0" algn="ctr">
              <a:buNone/>
            </a:pPr>
            <a:r>
              <a:rPr lang="en-US" sz="2200" b="1" dirty="0">
                <a:solidFill>
                  <a:srgbClr val="4A7068"/>
                </a:solidFill>
                <a:latin typeface="Calibri" pitchFamily="34" charset="0"/>
                <a:ea typeface="Calibri" pitchFamily="34" charset="-122"/>
                <a:cs typeface="Calibri" pitchFamily="34" charset="-120"/>
              </a:rPr>
              <a:t>30</a:t>
            </a:r>
            <a:endParaRPr lang="en-US" sz="2200" dirty="0"/>
          </a:p>
        </p:txBody>
      </p:sp>
      <p:sp>
        <p:nvSpPr>
          <p:cNvPr id="20" name="Text 18"/>
          <p:cNvSpPr/>
          <p:nvPr/>
        </p:nvSpPr>
        <p:spPr>
          <a:xfrm>
            <a:off x="6803136" y="1371600"/>
            <a:ext cx="1993392" cy="274320"/>
          </a:xfrm>
          <a:prstGeom prst="rect">
            <a:avLst/>
          </a:prstGeom>
          <a:noFill/>
          <a:ln/>
        </p:spPr>
        <p:txBody>
          <a:bodyPr wrap="square" rtlCol="0" anchor="ctr"/>
          <a:lstStyle/>
          <a:p>
            <a:pPr marL="0" indent="0" algn="ctr">
              <a:buNone/>
            </a:pPr>
            <a:r>
              <a:rPr lang="en-US" sz="1000" dirty="0">
                <a:solidFill>
                  <a:srgbClr val="5C6B6B"/>
                </a:solidFill>
              </a:rPr>
              <a:t>variables</a:t>
            </a:r>
            <a:endParaRPr lang="en-US" sz="1000" dirty="0"/>
          </a:p>
        </p:txBody>
      </p:sp>
      <p:sp>
        <p:nvSpPr>
          <p:cNvPr id="21" name="Shape 19"/>
          <p:cNvSpPr/>
          <p:nvPr/>
        </p:nvSpPr>
        <p:spPr>
          <a:xfrm>
            <a:off x="274320" y="1874520"/>
            <a:ext cx="4114800" cy="297180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sp>
        <p:nvSpPr>
          <p:cNvPr id="22" name="Shape 20"/>
          <p:cNvSpPr/>
          <p:nvPr/>
        </p:nvSpPr>
        <p:spPr>
          <a:xfrm>
            <a:off x="274320" y="1874520"/>
            <a:ext cx="54864" cy="2971800"/>
          </a:xfrm>
          <a:prstGeom prst="rect">
            <a:avLst/>
          </a:prstGeom>
          <a:solidFill>
            <a:srgbClr val="B85C38"/>
          </a:solidFill>
          <a:ln w="12700">
            <a:solidFill>
              <a:srgbClr val="B85C38"/>
            </a:solidFill>
            <a:prstDash val="solid"/>
          </a:ln>
        </p:spPr>
      </p:sp>
      <p:sp>
        <p:nvSpPr>
          <p:cNvPr id="23" name="Text 21"/>
          <p:cNvSpPr/>
          <p:nvPr/>
        </p:nvSpPr>
        <p:spPr>
          <a:xfrm>
            <a:off x="457200" y="1938528"/>
            <a:ext cx="3794760" cy="320040"/>
          </a:xfrm>
          <a:prstGeom prst="rect">
            <a:avLst/>
          </a:prstGeom>
          <a:noFill/>
          <a:ln/>
        </p:spPr>
        <p:txBody>
          <a:bodyPr wrap="square" rtlCol="0" anchor="ctr"/>
          <a:lstStyle/>
          <a:p>
            <a:pPr marL="0" indent="0">
              <a:buNone/>
            </a:pPr>
            <a:r>
              <a:rPr lang="en-US" sz="1300" b="1" dirty="0">
                <a:solidFill>
                  <a:srgbClr val="1C2B2B"/>
                </a:solidFill>
              </a:rPr>
              <a:t>Le contexte</a:t>
            </a:r>
            <a:endParaRPr lang="en-US" sz="1300" dirty="0"/>
          </a:p>
        </p:txBody>
      </p:sp>
      <p:sp>
        <p:nvSpPr>
          <p:cNvPr id="24" name="Text 22"/>
          <p:cNvSpPr/>
          <p:nvPr/>
        </p:nvSpPr>
        <p:spPr>
          <a:xfrm>
            <a:off x="457200" y="2304288"/>
            <a:ext cx="3794760" cy="2423160"/>
          </a:xfrm>
          <a:prstGeom prst="rect">
            <a:avLst/>
          </a:prstGeom>
          <a:noFill/>
          <a:ln/>
        </p:spPr>
        <p:txBody>
          <a:bodyPr wrap="square" rtlCol="0" anchor="ctr"/>
          <a:lstStyle/>
          <a:p>
            <a:pPr marL="0" indent="0">
              <a:buNone/>
            </a:pPr>
            <a:r>
              <a:rPr lang="en-US" sz="1100" dirty="0">
                <a:solidFill>
                  <a:srgbClr val="5C6B6B"/>
                </a:solidFill>
                <a:latin typeface="Calibri" pitchFamily="34" charset="0"/>
                <a:ea typeface="Calibri" pitchFamily="34" charset="-122"/>
                <a:cs typeface="Calibri" pitchFamily="34" charset="-120"/>
              </a:rPr>
              <a:t>J'ai choisi ce projet parce que la détection de fraude représente un défi concret et à fort impact métier : chaque fraude non détectée a un coût financier réel.</a:t>
            </a:r>
            <a:endParaRPr lang="en-US" sz="1100" dirty="0"/>
          </a:p>
          <a:p>
            <a:pPr marL="0" indent="0">
              <a:buNone/>
            </a:pPr>
            <a:endParaRPr lang="en-US" sz="1100" dirty="0"/>
          </a:p>
          <a:p>
            <a:pPr marL="0" indent="0">
              <a:buNone/>
            </a:pPr>
            <a:r>
              <a:rPr lang="en-US" sz="1100" dirty="0">
                <a:solidFill>
                  <a:srgbClr val="5C6B6B"/>
                </a:solidFill>
                <a:latin typeface="Calibri" pitchFamily="34" charset="0"/>
                <a:ea typeface="Calibri" pitchFamily="34" charset="-122"/>
                <a:cs typeface="Calibri" pitchFamily="34" charset="-120"/>
              </a:rPr>
              <a:t>Le jeu de données est volontairement difficile : avec seulement 0,17 % de fraudes, un modèle naïf qui prédit toujours « Normal » afficherait 99,83 % d'accuracy… mais serait complètement inutile en pratique.</a:t>
            </a:r>
            <a:endParaRPr lang="en-US" sz="1100" dirty="0"/>
          </a:p>
          <a:p>
            <a:pPr marL="0" indent="0">
              <a:buNone/>
            </a:pPr>
            <a:endParaRPr lang="en-US" sz="1100" dirty="0"/>
          </a:p>
          <a:p>
            <a:pPr marL="0" indent="0">
              <a:buNone/>
            </a:pPr>
            <a:r>
              <a:rPr lang="en-US" sz="1100" dirty="0">
                <a:solidFill>
                  <a:srgbClr val="5C6B6B"/>
                </a:solidFill>
                <a:latin typeface="Calibri" pitchFamily="34" charset="0"/>
                <a:ea typeface="Calibri" pitchFamily="34" charset="-122"/>
                <a:cs typeface="Calibri" pitchFamily="34" charset="-120"/>
              </a:rPr>
              <a:t>C'est ce paradoxe qui m'a intéressé : comment construire un modèle réellement utile quand les exemples à détecter sont rarissimes ?</a:t>
            </a:r>
            <a:endParaRPr lang="en-US" sz="1100" dirty="0"/>
          </a:p>
        </p:txBody>
      </p:sp>
      <p:sp>
        <p:nvSpPr>
          <p:cNvPr id="25" name="Shape 23"/>
          <p:cNvSpPr/>
          <p:nvPr/>
        </p:nvSpPr>
        <p:spPr>
          <a:xfrm>
            <a:off x="4663440" y="1874520"/>
            <a:ext cx="4206240" cy="297180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sp>
        <p:nvSpPr>
          <p:cNvPr id="26" name="Shape 24"/>
          <p:cNvSpPr/>
          <p:nvPr/>
        </p:nvSpPr>
        <p:spPr>
          <a:xfrm>
            <a:off x="4663440" y="1874520"/>
            <a:ext cx="54864" cy="2971800"/>
          </a:xfrm>
          <a:prstGeom prst="rect">
            <a:avLst/>
          </a:prstGeom>
          <a:solidFill>
            <a:srgbClr val="4A7068"/>
          </a:solidFill>
          <a:ln w="12700">
            <a:solidFill>
              <a:srgbClr val="4A7068"/>
            </a:solidFill>
            <a:prstDash val="solid"/>
          </a:ln>
        </p:spPr>
      </p:sp>
      <p:sp>
        <p:nvSpPr>
          <p:cNvPr id="27" name="Text 25"/>
          <p:cNvSpPr/>
          <p:nvPr/>
        </p:nvSpPr>
        <p:spPr>
          <a:xfrm>
            <a:off x="4828032" y="1938528"/>
            <a:ext cx="3886200" cy="320040"/>
          </a:xfrm>
          <a:prstGeom prst="rect">
            <a:avLst/>
          </a:prstGeom>
          <a:noFill/>
          <a:ln/>
        </p:spPr>
        <p:txBody>
          <a:bodyPr wrap="square" rtlCol="0" anchor="ctr"/>
          <a:lstStyle/>
          <a:p>
            <a:pPr marL="0" indent="0">
              <a:buNone/>
            </a:pPr>
            <a:r>
              <a:rPr lang="en-US" sz="1300" b="1" dirty="0">
                <a:solidFill>
                  <a:srgbClr val="1C2B2B"/>
                </a:solidFill>
              </a:rPr>
              <a:t>Mes objectifs</a:t>
            </a:r>
            <a:endParaRPr lang="en-US" sz="1300" dirty="0"/>
          </a:p>
        </p:txBody>
      </p:sp>
      <p:sp>
        <p:nvSpPr>
          <p:cNvPr id="28" name="Shape 26"/>
          <p:cNvSpPr/>
          <p:nvPr/>
        </p:nvSpPr>
        <p:spPr>
          <a:xfrm>
            <a:off x="4828032" y="2340864"/>
            <a:ext cx="274320" cy="274320"/>
          </a:xfrm>
          <a:prstGeom prst="ellipse">
            <a:avLst/>
          </a:prstGeom>
          <a:solidFill>
            <a:srgbClr val="B85C38"/>
          </a:solidFill>
          <a:ln w="12700">
            <a:solidFill>
              <a:srgbClr val="B85C38"/>
            </a:solidFill>
            <a:prstDash val="solid"/>
          </a:ln>
        </p:spPr>
      </p:sp>
      <p:sp>
        <p:nvSpPr>
          <p:cNvPr id="29" name="Text 27"/>
          <p:cNvSpPr/>
          <p:nvPr/>
        </p:nvSpPr>
        <p:spPr>
          <a:xfrm>
            <a:off x="4828032" y="2340864"/>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01</a:t>
            </a:r>
            <a:endParaRPr lang="en-US" sz="900" dirty="0"/>
          </a:p>
        </p:txBody>
      </p:sp>
      <p:sp>
        <p:nvSpPr>
          <p:cNvPr id="30" name="Text 28"/>
          <p:cNvSpPr/>
          <p:nvPr/>
        </p:nvSpPr>
        <p:spPr>
          <a:xfrm>
            <a:off x="5193792" y="2340864"/>
            <a:ext cx="3520440" cy="201168"/>
          </a:xfrm>
          <a:prstGeom prst="rect">
            <a:avLst/>
          </a:prstGeom>
          <a:noFill/>
          <a:ln/>
        </p:spPr>
        <p:txBody>
          <a:bodyPr wrap="square" rtlCol="0" anchor="ctr"/>
          <a:lstStyle/>
          <a:p>
            <a:pPr marL="0" indent="0">
              <a:buNone/>
            </a:pPr>
            <a:r>
              <a:rPr lang="en-US" sz="1100" b="1" dirty="0">
                <a:solidFill>
                  <a:srgbClr val="1C2B2B"/>
                </a:solidFill>
              </a:rPr>
              <a:t>Détecter les fraudes</a:t>
            </a:r>
            <a:endParaRPr lang="en-US" sz="1100" dirty="0"/>
          </a:p>
        </p:txBody>
      </p:sp>
      <p:sp>
        <p:nvSpPr>
          <p:cNvPr id="31" name="Text 29"/>
          <p:cNvSpPr/>
          <p:nvPr/>
        </p:nvSpPr>
        <p:spPr>
          <a:xfrm>
            <a:off x="5193792" y="2560320"/>
            <a:ext cx="3520440" cy="292608"/>
          </a:xfrm>
          <a:prstGeom prst="rect">
            <a:avLst/>
          </a:prstGeom>
          <a:noFill/>
          <a:ln/>
        </p:spPr>
        <p:txBody>
          <a:bodyPr wrap="square" rtlCol="0" anchor="ctr"/>
          <a:lstStyle/>
          <a:p>
            <a:pPr marL="0" indent="0">
              <a:buNone/>
            </a:pPr>
            <a:r>
              <a:rPr lang="en-US" sz="950" dirty="0">
                <a:solidFill>
                  <a:srgbClr val="5C6B6B"/>
                </a:solidFill>
                <a:latin typeface="Calibri" pitchFamily="34" charset="0"/>
                <a:ea typeface="Calibri" pitchFamily="34" charset="-122"/>
                <a:cs typeface="Calibri" pitchFamily="34" charset="-120"/>
              </a:rPr>
              <a:t>Maximiser le Recall — mieux vaut une fausse alerte qu'une fraude manquée.</a:t>
            </a:r>
            <a:endParaRPr lang="en-US" sz="950" dirty="0"/>
          </a:p>
        </p:txBody>
      </p:sp>
      <p:sp>
        <p:nvSpPr>
          <p:cNvPr id="32" name="Shape 30"/>
          <p:cNvSpPr/>
          <p:nvPr/>
        </p:nvSpPr>
        <p:spPr>
          <a:xfrm>
            <a:off x="4828032" y="2962656"/>
            <a:ext cx="274320" cy="274320"/>
          </a:xfrm>
          <a:prstGeom prst="ellipse">
            <a:avLst/>
          </a:prstGeom>
          <a:solidFill>
            <a:srgbClr val="B85C38"/>
          </a:solidFill>
          <a:ln w="12700">
            <a:solidFill>
              <a:srgbClr val="B85C38"/>
            </a:solidFill>
            <a:prstDash val="solid"/>
          </a:ln>
        </p:spPr>
      </p:sp>
      <p:sp>
        <p:nvSpPr>
          <p:cNvPr id="33" name="Text 31"/>
          <p:cNvSpPr/>
          <p:nvPr/>
        </p:nvSpPr>
        <p:spPr>
          <a:xfrm>
            <a:off x="4828032" y="296265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02</a:t>
            </a:r>
            <a:endParaRPr lang="en-US" sz="900" dirty="0"/>
          </a:p>
        </p:txBody>
      </p:sp>
      <p:sp>
        <p:nvSpPr>
          <p:cNvPr id="34" name="Text 32"/>
          <p:cNvSpPr/>
          <p:nvPr/>
        </p:nvSpPr>
        <p:spPr>
          <a:xfrm>
            <a:off x="5193792" y="2962656"/>
            <a:ext cx="3520440" cy="201168"/>
          </a:xfrm>
          <a:prstGeom prst="rect">
            <a:avLst/>
          </a:prstGeom>
          <a:noFill/>
          <a:ln/>
        </p:spPr>
        <p:txBody>
          <a:bodyPr wrap="square" rtlCol="0" anchor="ctr"/>
          <a:lstStyle/>
          <a:p>
            <a:pPr marL="0" indent="0">
              <a:buNone/>
            </a:pPr>
            <a:r>
              <a:rPr lang="en-US" sz="1100" b="1" dirty="0">
                <a:solidFill>
                  <a:srgbClr val="1C2B2B"/>
                </a:solidFill>
              </a:rPr>
              <a:t>Scorer chaque transaction</a:t>
            </a:r>
            <a:endParaRPr lang="en-US" sz="1100" dirty="0"/>
          </a:p>
        </p:txBody>
      </p:sp>
      <p:sp>
        <p:nvSpPr>
          <p:cNvPr id="35" name="Text 33"/>
          <p:cNvSpPr/>
          <p:nvPr/>
        </p:nvSpPr>
        <p:spPr>
          <a:xfrm>
            <a:off x="5193792" y="3182112"/>
            <a:ext cx="3520440" cy="292608"/>
          </a:xfrm>
          <a:prstGeom prst="rect">
            <a:avLst/>
          </a:prstGeom>
          <a:noFill/>
          <a:ln/>
        </p:spPr>
        <p:txBody>
          <a:bodyPr wrap="square" rtlCol="0" anchor="ctr"/>
          <a:lstStyle/>
          <a:p>
            <a:pPr marL="0" indent="0">
              <a:buNone/>
            </a:pPr>
            <a:r>
              <a:rPr lang="en-US" sz="950" dirty="0">
                <a:solidFill>
                  <a:srgbClr val="5C6B6B"/>
                </a:solidFill>
                <a:latin typeface="Calibri" pitchFamily="34" charset="0"/>
                <a:ea typeface="Calibri" pitchFamily="34" charset="-122"/>
                <a:cs typeface="Calibri" pitchFamily="34" charset="-120"/>
              </a:rPr>
              <a:t>Produire une probabilité de fraude entre 0 et 1 pour chaque transaction.</a:t>
            </a:r>
            <a:endParaRPr lang="en-US" sz="950" dirty="0"/>
          </a:p>
        </p:txBody>
      </p:sp>
      <p:sp>
        <p:nvSpPr>
          <p:cNvPr id="36" name="Shape 34"/>
          <p:cNvSpPr/>
          <p:nvPr/>
        </p:nvSpPr>
        <p:spPr>
          <a:xfrm>
            <a:off x="4828032" y="3584448"/>
            <a:ext cx="274320" cy="274320"/>
          </a:xfrm>
          <a:prstGeom prst="ellipse">
            <a:avLst/>
          </a:prstGeom>
          <a:solidFill>
            <a:srgbClr val="B85C38"/>
          </a:solidFill>
          <a:ln w="12700">
            <a:solidFill>
              <a:srgbClr val="B85C38"/>
            </a:solidFill>
            <a:prstDash val="solid"/>
          </a:ln>
        </p:spPr>
      </p:sp>
      <p:sp>
        <p:nvSpPr>
          <p:cNvPr id="37" name="Text 35"/>
          <p:cNvSpPr/>
          <p:nvPr/>
        </p:nvSpPr>
        <p:spPr>
          <a:xfrm>
            <a:off x="4828032" y="358444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03</a:t>
            </a:r>
            <a:endParaRPr lang="en-US" sz="900" dirty="0"/>
          </a:p>
        </p:txBody>
      </p:sp>
      <p:sp>
        <p:nvSpPr>
          <p:cNvPr id="38" name="Text 36"/>
          <p:cNvSpPr/>
          <p:nvPr/>
        </p:nvSpPr>
        <p:spPr>
          <a:xfrm>
            <a:off x="5193792" y="3584448"/>
            <a:ext cx="3520440" cy="201168"/>
          </a:xfrm>
          <a:prstGeom prst="rect">
            <a:avLst/>
          </a:prstGeom>
          <a:noFill/>
          <a:ln/>
        </p:spPr>
        <p:txBody>
          <a:bodyPr wrap="square" rtlCol="0" anchor="ctr"/>
          <a:lstStyle/>
          <a:p>
            <a:pPr marL="0" indent="0">
              <a:buNone/>
            </a:pPr>
            <a:r>
              <a:rPr lang="en-US" sz="1100" b="1" dirty="0">
                <a:solidFill>
                  <a:srgbClr val="1C2B2B"/>
                </a:solidFill>
              </a:rPr>
              <a:t>Classifier le risque</a:t>
            </a:r>
            <a:endParaRPr lang="en-US" sz="1100" dirty="0"/>
          </a:p>
        </p:txBody>
      </p:sp>
      <p:sp>
        <p:nvSpPr>
          <p:cNvPr id="39" name="Text 37"/>
          <p:cNvSpPr/>
          <p:nvPr/>
        </p:nvSpPr>
        <p:spPr>
          <a:xfrm>
            <a:off x="5193792" y="3803904"/>
            <a:ext cx="3520440" cy="292608"/>
          </a:xfrm>
          <a:prstGeom prst="rect">
            <a:avLst/>
          </a:prstGeom>
          <a:noFill/>
          <a:ln/>
        </p:spPr>
        <p:txBody>
          <a:bodyPr wrap="square" rtlCol="0" anchor="ctr"/>
          <a:lstStyle/>
          <a:p>
            <a:pPr marL="0" indent="0">
              <a:buNone/>
            </a:pPr>
            <a:r>
              <a:rPr lang="en-US" sz="950" dirty="0">
                <a:solidFill>
                  <a:srgbClr val="5C6B6B"/>
                </a:solidFill>
                <a:latin typeface="Calibri" pitchFamily="34" charset="0"/>
                <a:ea typeface="Calibri" pitchFamily="34" charset="-122"/>
                <a:cs typeface="Calibri" pitchFamily="34" charset="-120"/>
              </a:rPr>
              <a:t>Créer 4 niveaux : Very Low / Low / Medium / High.</a:t>
            </a:r>
            <a:endParaRPr lang="en-US" sz="950" dirty="0"/>
          </a:p>
        </p:txBody>
      </p:sp>
      <p:sp>
        <p:nvSpPr>
          <p:cNvPr id="40" name="Shape 38"/>
          <p:cNvSpPr/>
          <p:nvPr/>
        </p:nvSpPr>
        <p:spPr>
          <a:xfrm>
            <a:off x="4828032" y="4206240"/>
            <a:ext cx="274320" cy="274320"/>
          </a:xfrm>
          <a:prstGeom prst="ellipse">
            <a:avLst/>
          </a:prstGeom>
          <a:solidFill>
            <a:srgbClr val="B85C38"/>
          </a:solidFill>
          <a:ln w="12700">
            <a:solidFill>
              <a:srgbClr val="B85C38"/>
            </a:solidFill>
            <a:prstDash val="solid"/>
          </a:ln>
        </p:spPr>
      </p:sp>
      <p:sp>
        <p:nvSpPr>
          <p:cNvPr id="41" name="Text 39"/>
          <p:cNvSpPr/>
          <p:nvPr/>
        </p:nvSpPr>
        <p:spPr>
          <a:xfrm>
            <a:off x="4828032" y="420624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04</a:t>
            </a:r>
            <a:endParaRPr lang="en-US" sz="900" dirty="0"/>
          </a:p>
        </p:txBody>
      </p:sp>
      <p:sp>
        <p:nvSpPr>
          <p:cNvPr id="42" name="Text 40"/>
          <p:cNvSpPr/>
          <p:nvPr/>
        </p:nvSpPr>
        <p:spPr>
          <a:xfrm>
            <a:off x="5193792" y="4206240"/>
            <a:ext cx="3520440" cy="201168"/>
          </a:xfrm>
          <a:prstGeom prst="rect">
            <a:avLst/>
          </a:prstGeom>
          <a:noFill/>
          <a:ln/>
        </p:spPr>
        <p:txBody>
          <a:bodyPr wrap="square" rtlCol="0" anchor="ctr"/>
          <a:lstStyle/>
          <a:p>
            <a:pPr marL="0" indent="0">
              <a:buNone/>
            </a:pPr>
            <a:r>
              <a:rPr lang="en-US" sz="1100" b="1" dirty="0">
                <a:solidFill>
                  <a:srgbClr val="1C2B2B"/>
                </a:solidFill>
              </a:rPr>
              <a:t>Visualiser avec Power BI</a:t>
            </a:r>
            <a:endParaRPr lang="en-US" sz="1100" dirty="0"/>
          </a:p>
        </p:txBody>
      </p:sp>
      <p:sp>
        <p:nvSpPr>
          <p:cNvPr id="43" name="Text 41"/>
          <p:cNvSpPr/>
          <p:nvPr/>
        </p:nvSpPr>
        <p:spPr>
          <a:xfrm>
            <a:off x="5193792" y="4425696"/>
            <a:ext cx="3520440" cy="292608"/>
          </a:xfrm>
          <a:prstGeom prst="rect">
            <a:avLst/>
          </a:prstGeom>
          <a:noFill/>
          <a:ln/>
        </p:spPr>
        <p:txBody>
          <a:bodyPr wrap="square" rtlCol="0" anchor="ctr"/>
          <a:lstStyle/>
          <a:p>
            <a:pPr marL="0" indent="0">
              <a:buNone/>
            </a:pPr>
            <a:r>
              <a:rPr lang="en-US" sz="950" dirty="0">
                <a:solidFill>
                  <a:srgbClr val="5C6B6B"/>
                </a:solidFill>
                <a:latin typeface="Calibri" pitchFamily="34" charset="0"/>
                <a:ea typeface="Calibri" pitchFamily="34" charset="-122"/>
                <a:cs typeface="Calibri" pitchFamily="34" charset="-120"/>
              </a:rPr>
              <a:t>Rendre les résultats accessibles aux équipes métier via un dashboard interactif.</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E"/>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C2B2B"/>
          </a:solidFill>
          <a:ln w="12700">
            <a:solidFill>
              <a:srgbClr val="1C2B2B"/>
            </a:solidFill>
            <a:prstDash val="solid"/>
          </a:ln>
        </p:spPr>
      </p:sp>
      <p:sp>
        <p:nvSpPr>
          <p:cNvPr id="3" name="Shape 1"/>
          <p:cNvSpPr/>
          <p:nvPr/>
        </p:nvSpPr>
        <p:spPr>
          <a:xfrm>
            <a:off x="0" y="0"/>
            <a:ext cx="201168" cy="658368"/>
          </a:xfrm>
          <a:prstGeom prst="rect">
            <a:avLst/>
          </a:prstGeom>
          <a:solidFill>
            <a:srgbClr val="B85C38"/>
          </a:solidFill>
          <a:ln w="12700">
            <a:solidFill>
              <a:srgbClr val="B85C38"/>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Ce que les données m'ont appris</a:t>
            </a:r>
            <a:endParaRPr lang="en-US" sz="2000" dirty="0"/>
          </a:p>
        </p:txBody>
      </p:sp>
      <p:sp>
        <p:nvSpPr>
          <p:cNvPr id="5" name="Shape 3"/>
          <p:cNvSpPr/>
          <p:nvPr/>
        </p:nvSpPr>
        <p:spPr>
          <a:xfrm>
            <a:off x="228600" y="777240"/>
            <a:ext cx="2788920" cy="265176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pic>
        <p:nvPicPr>
          <p:cNvPr id="6" name="Image 0" descr="preencoded.png"/>
          <p:cNvPicPr>
            <a:picLocks noChangeAspect="1"/>
          </p:cNvPicPr>
          <p:nvPr/>
        </p:nvPicPr>
        <p:blipFill>
          <a:blip r:embed="rId3"/>
          <a:srcRect/>
          <a:stretch/>
        </p:blipFill>
        <p:spPr>
          <a:xfrm>
            <a:off x="320040" y="841248"/>
            <a:ext cx="2606040" cy="2148840"/>
          </a:xfrm>
          <a:prstGeom prst="rect">
            <a:avLst/>
          </a:prstGeom>
        </p:spPr>
      </p:pic>
      <p:sp>
        <p:nvSpPr>
          <p:cNvPr id="7" name="Text 4"/>
          <p:cNvSpPr/>
          <p:nvPr/>
        </p:nvSpPr>
        <p:spPr>
          <a:xfrm>
            <a:off x="228600" y="3017520"/>
            <a:ext cx="2788920" cy="384048"/>
          </a:xfrm>
          <a:prstGeom prst="rect">
            <a:avLst/>
          </a:prstGeom>
          <a:noFill/>
          <a:ln/>
        </p:spPr>
        <p:txBody>
          <a:bodyPr wrap="square" rtlCol="0" anchor="ctr"/>
          <a:lstStyle/>
          <a:p>
            <a:pPr marL="0" indent="0" algn="ctr">
              <a:buNone/>
            </a:pPr>
            <a:r>
              <a:rPr lang="en-US" sz="1000" b="1" dirty="0">
                <a:solidFill>
                  <a:srgbClr val="1C2B2B"/>
                </a:solidFill>
              </a:rPr>
              <a:t>Distribution des montants</a:t>
            </a:r>
            <a:endParaRPr lang="en-US" sz="1000" dirty="0"/>
          </a:p>
        </p:txBody>
      </p:sp>
      <p:sp>
        <p:nvSpPr>
          <p:cNvPr id="8" name="Shape 5"/>
          <p:cNvSpPr/>
          <p:nvPr/>
        </p:nvSpPr>
        <p:spPr>
          <a:xfrm>
            <a:off x="3200400" y="777240"/>
            <a:ext cx="2788920" cy="265176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pic>
        <p:nvPicPr>
          <p:cNvPr id="9" name="Image 1" descr="preencoded.png"/>
          <p:cNvPicPr>
            <a:picLocks noChangeAspect="1"/>
          </p:cNvPicPr>
          <p:nvPr/>
        </p:nvPicPr>
        <p:blipFill>
          <a:blip r:embed="rId4"/>
          <a:srcRect/>
          <a:stretch/>
        </p:blipFill>
        <p:spPr>
          <a:xfrm>
            <a:off x="3291840" y="841248"/>
            <a:ext cx="2606040" cy="2148840"/>
          </a:xfrm>
          <a:prstGeom prst="rect">
            <a:avLst/>
          </a:prstGeom>
        </p:spPr>
      </p:pic>
      <p:sp>
        <p:nvSpPr>
          <p:cNvPr id="10" name="Text 6"/>
          <p:cNvSpPr/>
          <p:nvPr/>
        </p:nvSpPr>
        <p:spPr>
          <a:xfrm>
            <a:off x="3200400" y="3017520"/>
            <a:ext cx="2788920" cy="384048"/>
          </a:xfrm>
          <a:prstGeom prst="rect">
            <a:avLst/>
          </a:prstGeom>
          <a:noFill/>
          <a:ln/>
        </p:spPr>
        <p:txBody>
          <a:bodyPr wrap="square" rtlCol="0" anchor="ctr"/>
          <a:lstStyle/>
          <a:p>
            <a:pPr marL="0" indent="0" algn="ctr">
              <a:buNone/>
            </a:pPr>
            <a:r>
              <a:rPr lang="en-US" sz="1000" b="1" dirty="0">
                <a:solidFill>
                  <a:srgbClr val="1C2B2B"/>
                </a:solidFill>
              </a:rPr>
              <a:t>Fraude vs Normale (log)</a:t>
            </a:r>
            <a:endParaRPr lang="en-US" sz="1000" dirty="0"/>
          </a:p>
        </p:txBody>
      </p:sp>
      <p:sp>
        <p:nvSpPr>
          <p:cNvPr id="11" name="Shape 7"/>
          <p:cNvSpPr/>
          <p:nvPr/>
        </p:nvSpPr>
        <p:spPr>
          <a:xfrm>
            <a:off x="6172200" y="777240"/>
            <a:ext cx="2788920" cy="265176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pic>
        <p:nvPicPr>
          <p:cNvPr id="12" name="Image 2" descr="preencoded.png"/>
          <p:cNvPicPr>
            <a:picLocks noChangeAspect="1"/>
          </p:cNvPicPr>
          <p:nvPr/>
        </p:nvPicPr>
        <p:blipFill>
          <a:blip r:embed="rId5"/>
          <a:srcRect/>
          <a:stretch/>
        </p:blipFill>
        <p:spPr>
          <a:xfrm>
            <a:off x="6263640" y="841248"/>
            <a:ext cx="2606040" cy="2148840"/>
          </a:xfrm>
          <a:prstGeom prst="rect">
            <a:avLst/>
          </a:prstGeom>
        </p:spPr>
      </p:pic>
      <p:sp>
        <p:nvSpPr>
          <p:cNvPr id="13" name="Text 8"/>
          <p:cNvSpPr/>
          <p:nvPr/>
        </p:nvSpPr>
        <p:spPr>
          <a:xfrm>
            <a:off x="6172200" y="3017520"/>
            <a:ext cx="2788920" cy="384048"/>
          </a:xfrm>
          <a:prstGeom prst="rect">
            <a:avLst/>
          </a:prstGeom>
          <a:noFill/>
          <a:ln/>
        </p:spPr>
        <p:txBody>
          <a:bodyPr wrap="square" rtlCol="0" anchor="ctr"/>
          <a:lstStyle/>
          <a:p>
            <a:pPr marL="0" indent="0" algn="ctr">
              <a:buNone/>
            </a:pPr>
            <a:r>
              <a:rPr lang="en-US" sz="1000" b="1" dirty="0">
                <a:solidFill>
                  <a:srgbClr val="1C2B2B"/>
                </a:solidFill>
              </a:rPr>
              <a:t>Montants par classe</a:t>
            </a:r>
            <a:endParaRPr lang="en-US" sz="1000" dirty="0"/>
          </a:p>
        </p:txBody>
      </p:sp>
      <p:sp>
        <p:nvSpPr>
          <p:cNvPr id="14" name="Shape 9"/>
          <p:cNvSpPr/>
          <p:nvPr/>
        </p:nvSpPr>
        <p:spPr>
          <a:xfrm>
            <a:off x="228600" y="3520440"/>
            <a:ext cx="8686800" cy="1389888"/>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sp>
        <p:nvSpPr>
          <p:cNvPr id="15" name="Shape 10"/>
          <p:cNvSpPr/>
          <p:nvPr/>
        </p:nvSpPr>
        <p:spPr>
          <a:xfrm>
            <a:off x="228600" y="3520440"/>
            <a:ext cx="54864" cy="1389888"/>
          </a:xfrm>
          <a:prstGeom prst="rect">
            <a:avLst/>
          </a:prstGeom>
          <a:solidFill>
            <a:srgbClr val="B85C38"/>
          </a:solidFill>
          <a:ln w="12700">
            <a:solidFill>
              <a:srgbClr val="B85C38"/>
            </a:solidFill>
            <a:prstDash val="solid"/>
          </a:ln>
        </p:spPr>
      </p:sp>
      <p:sp>
        <p:nvSpPr>
          <p:cNvPr id="16" name="Text 11"/>
          <p:cNvSpPr/>
          <p:nvPr/>
        </p:nvSpPr>
        <p:spPr>
          <a:xfrm>
            <a:off x="411480" y="3584448"/>
            <a:ext cx="8366760" cy="292608"/>
          </a:xfrm>
          <a:prstGeom prst="rect">
            <a:avLst/>
          </a:prstGeom>
          <a:noFill/>
          <a:ln/>
        </p:spPr>
        <p:txBody>
          <a:bodyPr wrap="square" rtlCol="0" anchor="ctr"/>
          <a:lstStyle/>
          <a:p>
            <a:pPr marL="0" indent="0">
              <a:buNone/>
            </a:pPr>
            <a:r>
              <a:rPr lang="en-US" sz="1200" b="1" dirty="0">
                <a:solidFill>
                  <a:srgbClr val="1C2B2B"/>
                </a:solidFill>
              </a:rPr>
              <a:t>Ce que j'ai observé</a:t>
            </a:r>
            <a:endParaRPr lang="en-US" sz="1200" dirty="0"/>
          </a:p>
        </p:txBody>
      </p:sp>
      <p:sp>
        <p:nvSpPr>
          <p:cNvPr id="17" name="Text 12"/>
          <p:cNvSpPr/>
          <p:nvPr/>
        </p:nvSpPr>
        <p:spPr>
          <a:xfrm>
            <a:off x="411480" y="3913632"/>
            <a:ext cx="8366760" cy="914400"/>
          </a:xfrm>
          <a:prstGeom prst="rect">
            <a:avLst/>
          </a:prstGeom>
          <a:noFill/>
          <a:ln/>
        </p:spPr>
        <p:txBody>
          <a:bodyPr wrap="square" rtlCol="0" anchor="ctr"/>
          <a:lstStyle/>
          <a:p>
            <a:pPr marL="0" indent="0">
              <a:buNone/>
            </a:pPr>
            <a:r>
              <a:rPr lang="en-US" sz="1100" dirty="0">
                <a:solidFill>
                  <a:srgbClr val="5C6B6B"/>
                </a:solidFill>
                <a:latin typeface="Calibri" pitchFamily="34" charset="0"/>
                <a:ea typeface="Calibri" pitchFamily="34" charset="-122"/>
                <a:cs typeface="Calibri" pitchFamily="34" charset="-120"/>
              </a:rPr>
              <a:t>En explorant les données, j'ai rapidement compris que le montant seul ne peut pas distinguer une fraude d'une transaction normale. Les fraudeurs agissent aussi bien sur de petites que sur de moyennes sommes. La vraie information est dans les variables V1–V28 — des composantes PCA qui capturent des patterns comportementaux complexes que l'œil humain ne peut pas voir directement. C'est là où le Machine Learning apporte une vraie valeur ajoutée.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E"/>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C2B2B"/>
          </a:solidFill>
          <a:ln w="12700">
            <a:solidFill>
              <a:srgbClr val="1C2B2B"/>
            </a:solidFill>
            <a:prstDash val="solid"/>
          </a:ln>
        </p:spPr>
      </p:sp>
      <p:sp>
        <p:nvSpPr>
          <p:cNvPr id="3" name="Shape 1"/>
          <p:cNvSpPr/>
          <p:nvPr/>
        </p:nvSpPr>
        <p:spPr>
          <a:xfrm>
            <a:off x="0" y="0"/>
            <a:ext cx="201168" cy="658368"/>
          </a:xfrm>
          <a:prstGeom prst="rect">
            <a:avLst/>
          </a:prstGeom>
          <a:solidFill>
            <a:srgbClr val="B85C38"/>
          </a:solidFill>
          <a:ln w="12700">
            <a:solidFill>
              <a:srgbClr val="B85C38"/>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Comment j'ai préparé les données</a:t>
            </a:r>
            <a:endParaRPr lang="en-US" sz="2000" dirty="0"/>
          </a:p>
        </p:txBody>
      </p:sp>
      <p:sp>
        <p:nvSpPr>
          <p:cNvPr id="5" name="Shape 3"/>
          <p:cNvSpPr/>
          <p:nvPr/>
        </p:nvSpPr>
        <p:spPr>
          <a:xfrm>
            <a:off x="274320" y="804672"/>
            <a:ext cx="4206240" cy="196596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sp>
        <p:nvSpPr>
          <p:cNvPr id="6" name="Shape 4"/>
          <p:cNvSpPr/>
          <p:nvPr/>
        </p:nvSpPr>
        <p:spPr>
          <a:xfrm>
            <a:off x="274320" y="804672"/>
            <a:ext cx="658368" cy="1965960"/>
          </a:xfrm>
          <a:prstGeom prst="rect">
            <a:avLst/>
          </a:prstGeom>
          <a:solidFill>
            <a:srgbClr val="B85C38"/>
          </a:solidFill>
          <a:ln w="12700">
            <a:solidFill>
              <a:srgbClr val="B85C38"/>
            </a:solidFill>
            <a:prstDash val="solid"/>
          </a:ln>
        </p:spPr>
      </p:sp>
      <p:sp>
        <p:nvSpPr>
          <p:cNvPr id="7" name="Text 5"/>
          <p:cNvSpPr/>
          <p:nvPr/>
        </p:nvSpPr>
        <p:spPr>
          <a:xfrm>
            <a:off x="274320" y="804672"/>
            <a:ext cx="658368" cy="1965960"/>
          </a:xfrm>
          <a:prstGeom prst="rect">
            <a:avLst/>
          </a:prstGeom>
          <a:noFill/>
          <a:ln/>
        </p:spPr>
        <p:txBody>
          <a:bodyPr wrap="square" lIns="0" tIns="0" rIns="0" bIns="0" rtlCol="0" anchor="ctr"/>
          <a:lstStyle/>
          <a:p>
            <a:pPr marL="0" indent="0" algn="ctr">
              <a:buNone/>
            </a:pPr>
            <a:r>
              <a:rPr lang="en-US" sz="2000" b="1" dirty="0">
                <a:solidFill>
                  <a:srgbClr val="FFFFFF"/>
                </a:solidFill>
              </a:rPr>
              <a:t>01</a:t>
            </a:r>
            <a:endParaRPr lang="en-US" sz="2000" dirty="0"/>
          </a:p>
        </p:txBody>
      </p:sp>
      <p:sp>
        <p:nvSpPr>
          <p:cNvPr id="8" name="Text 6"/>
          <p:cNvSpPr/>
          <p:nvPr/>
        </p:nvSpPr>
        <p:spPr>
          <a:xfrm>
            <a:off x="1051560" y="941832"/>
            <a:ext cx="3291840" cy="329184"/>
          </a:xfrm>
          <a:prstGeom prst="rect">
            <a:avLst/>
          </a:prstGeom>
          <a:noFill/>
          <a:ln/>
        </p:spPr>
        <p:txBody>
          <a:bodyPr wrap="square" rtlCol="0" anchor="ctr"/>
          <a:lstStyle/>
          <a:p>
            <a:pPr marL="0" indent="0">
              <a:buNone/>
            </a:pPr>
            <a:r>
              <a:rPr lang="en-US" sz="1200" b="1" dirty="0">
                <a:solidFill>
                  <a:srgbClr val="1C2B2B"/>
                </a:solidFill>
              </a:rPr>
              <a:t>Sélection des features</a:t>
            </a:r>
            <a:endParaRPr lang="en-US" sz="1200" dirty="0"/>
          </a:p>
        </p:txBody>
      </p:sp>
      <p:sp>
        <p:nvSpPr>
          <p:cNvPr id="9" name="Text 7"/>
          <p:cNvSpPr/>
          <p:nvPr/>
        </p:nvSpPr>
        <p:spPr>
          <a:xfrm>
            <a:off x="1051560" y="1307592"/>
            <a:ext cx="3291840" cy="1353312"/>
          </a:xfrm>
          <a:prstGeom prst="rect">
            <a:avLst/>
          </a:prstGeom>
          <a:noFill/>
          <a:ln/>
        </p:spPr>
        <p:txBody>
          <a:bodyPr wrap="square" rtlCol="0" anchor="ctr"/>
          <a:lstStyle/>
          <a:p>
            <a:pPr marL="0" indent="0">
              <a:buNone/>
            </a:pPr>
            <a:r>
              <a:rPr lang="en-US" sz="1050" dirty="0">
                <a:solidFill>
                  <a:srgbClr val="5C6B6B"/>
                </a:solidFill>
                <a:latin typeface="Calibri" pitchFamily="34" charset="0"/>
                <a:ea typeface="Calibri" pitchFamily="34" charset="-122"/>
                <a:cs typeface="Calibri" pitchFamily="34" charset="-120"/>
              </a:rPr>
              <a:t>J'ai gardé toutes les variables disponibles et mis de côté celles que j'avais créées moi-même, pour ne pas biaiser le modèle.</a:t>
            </a:r>
            <a:endParaRPr lang="en-US" sz="1050" dirty="0"/>
          </a:p>
        </p:txBody>
      </p:sp>
      <p:sp>
        <p:nvSpPr>
          <p:cNvPr id="10" name="Shape 8"/>
          <p:cNvSpPr/>
          <p:nvPr/>
        </p:nvSpPr>
        <p:spPr>
          <a:xfrm>
            <a:off x="4709160" y="804672"/>
            <a:ext cx="4206240" cy="196596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sp>
        <p:nvSpPr>
          <p:cNvPr id="11" name="Shape 9"/>
          <p:cNvSpPr/>
          <p:nvPr/>
        </p:nvSpPr>
        <p:spPr>
          <a:xfrm>
            <a:off x="4709160" y="804672"/>
            <a:ext cx="658368" cy="1965960"/>
          </a:xfrm>
          <a:prstGeom prst="rect">
            <a:avLst/>
          </a:prstGeom>
          <a:solidFill>
            <a:srgbClr val="4A7068"/>
          </a:solidFill>
          <a:ln w="12700">
            <a:solidFill>
              <a:srgbClr val="4A7068"/>
            </a:solidFill>
            <a:prstDash val="solid"/>
          </a:ln>
        </p:spPr>
      </p:sp>
      <p:sp>
        <p:nvSpPr>
          <p:cNvPr id="12" name="Text 10"/>
          <p:cNvSpPr/>
          <p:nvPr/>
        </p:nvSpPr>
        <p:spPr>
          <a:xfrm>
            <a:off x="4709160" y="804672"/>
            <a:ext cx="658368" cy="1965960"/>
          </a:xfrm>
          <a:prstGeom prst="rect">
            <a:avLst/>
          </a:prstGeom>
          <a:noFill/>
          <a:ln/>
        </p:spPr>
        <p:txBody>
          <a:bodyPr wrap="square" lIns="0" tIns="0" rIns="0" bIns="0" rtlCol="0" anchor="ctr"/>
          <a:lstStyle/>
          <a:p>
            <a:pPr marL="0" indent="0" algn="ctr">
              <a:buNone/>
            </a:pPr>
            <a:r>
              <a:rPr lang="en-US" sz="2000" b="1" dirty="0">
                <a:solidFill>
                  <a:srgbClr val="FFFFFF"/>
                </a:solidFill>
              </a:rPr>
              <a:t>02</a:t>
            </a:r>
            <a:endParaRPr lang="en-US" sz="2000" dirty="0"/>
          </a:p>
        </p:txBody>
      </p:sp>
      <p:sp>
        <p:nvSpPr>
          <p:cNvPr id="13" name="Text 11"/>
          <p:cNvSpPr/>
          <p:nvPr/>
        </p:nvSpPr>
        <p:spPr>
          <a:xfrm>
            <a:off x="5486400" y="941832"/>
            <a:ext cx="3291840" cy="329184"/>
          </a:xfrm>
          <a:prstGeom prst="rect">
            <a:avLst/>
          </a:prstGeom>
          <a:noFill/>
          <a:ln/>
        </p:spPr>
        <p:txBody>
          <a:bodyPr wrap="square" rtlCol="0" anchor="ctr"/>
          <a:lstStyle/>
          <a:p>
            <a:pPr marL="0" indent="0">
              <a:buNone/>
            </a:pPr>
            <a:r>
              <a:rPr lang="en-US" sz="1200" b="1" dirty="0">
                <a:solidFill>
                  <a:srgbClr val="1C2B2B"/>
                </a:solidFill>
              </a:rPr>
              <a:t>Split stratifié 80/20</a:t>
            </a:r>
            <a:endParaRPr lang="en-US" sz="1200" dirty="0"/>
          </a:p>
        </p:txBody>
      </p:sp>
      <p:sp>
        <p:nvSpPr>
          <p:cNvPr id="14" name="Text 12"/>
          <p:cNvSpPr/>
          <p:nvPr/>
        </p:nvSpPr>
        <p:spPr>
          <a:xfrm>
            <a:off x="5486400" y="1307592"/>
            <a:ext cx="3291840" cy="1353312"/>
          </a:xfrm>
          <a:prstGeom prst="rect">
            <a:avLst/>
          </a:prstGeom>
          <a:noFill/>
          <a:ln/>
        </p:spPr>
        <p:txBody>
          <a:bodyPr wrap="square" rtlCol="0" anchor="ctr"/>
          <a:lstStyle/>
          <a:p>
            <a:pPr marL="0" indent="0">
              <a:buNone/>
            </a:pPr>
            <a:r>
              <a:rPr lang="en-US" sz="1050" dirty="0">
                <a:solidFill>
                  <a:srgbClr val="5C6B6B"/>
                </a:solidFill>
                <a:latin typeface="Calibri" pitchFamily="34" charset="0"/>
                <a:ea typeface="Calibri" pitchFamily="34" charset="-122"/>
                <a:cs typeface="Calibri" pitchFamily="34" charset="-120"/>
              </a:rPr>
              <a:t>J'ai divisé les données en 80 % pour entraîner le modèle et 20 % pour le tester, en m'assurant que les fraudes soient bien présentes dans les deux parties.</a:t>
            </a:r>
            <a:endParaRPr lang="en-US" sz="1050" dirty="0"/>
          </a:p>
        </p:txBody>
      </p:sp>
      <p:sp>
        <p:nvSpPr>
          <p:cNvPr id="15" name="Shape 13"/>
          <p:cNvSpPr/>
          <p:nvPr/>
        </p:nvSpPr>
        <p:spPr>
          <a:xfrm>
            <a:off x="274320" y="2907792"/>
            <a:ext cx="4206240" cy="196596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sp>
        <p:nvSpPr>
          <p:cNvPr id="16" name="Shape 14"/>
          <p:cNvSpPr/>
          <p:nvPr/>
        </p:nvSpPr>
        <p:spPr>
          <a:xfrm>
            <a:off x="274320" y="2907792"/>
            <a:ext cx="658368" cy="1965960"/>
          </a:xfrm>
          <a:prstGeom prst="rect">
            <a:avLst/>
          </a:prstGeom>
          <a:solidFill>
            <a:srgbClr val="B85C38"/>
          </a:solidFill>
          <a:ln w="12700">
            <a:solidFill>
              <a:srgbClr val="B85C38"/>
            </a:solidFill>
            <a:prstDash val="solid"/>
          </a:ln>
        </p:spPr>
      </p:sp>
      <p:sp>
        <p:nvSpPr>
          <p:cNvPr id="17" name="Text 15"/>
          <p:cNvSpPr/>
          <p:nvPr/>
        </p:nvSpPr>
        <p:spPr>
          <a:xfrm>
            <a:off x="274320" y="2907792"/>
            <a:ext cx="658368" cy="1965960"/>
          </a:xfrm>
          <a:prstGeom prst="rect">
            <a:avLst/>
          </a:prstGeom>
          <a:noFill/>
          <a:ln/>
        </p:spPr>
        <p:txBody>
          <a:bodyPr wrap="square" lIns="0" tIns="0" rIns="0" bIns="0" rtlCol="0" anchor="ctr"/>
          <a:lstStyle/>
          <a:p>
            <a:pPr marL="0" indent="0" algn="ctr">
              <a:buNone/>
            </a:pPr>
            <a:r>
              <a:rPr lang="en-US" sz="2000" b="1" dirty="0">
                <a:solidFill>
                  <a:srgbClr val="FFFFFF"/>
                </a:solidFill>
              </a:rPr>
              <a:t>03</a:t>
            </a:r>
            <a:endParaRPr lang="en-US" sz="2000" dirty="0"/>
          </a:p>
        </p:txBody>
      </p:sp>
      <p:sp>
        <p:nvSpPr>
          <p:cNvPr id="18" name="Text 16"/>
          <p:cNvSpPr/>
          <p:nvPr/>
        </p:nvSpPr>
        <p:spPr>
          <a:xfrm>
            <a:off x="1051560" y="3044952"/>
            <a:ext cx="3291840" cy="329184"/>
          </a:xfrm>
          <a:prstGeom prst="rect">
            <a:avLst/>
          </a:prstGeom>
          <a:noFill/>
          <a:ln/>
        </p:spPr>
        <p:txBody>
          <a:bodyPr wrap="square" rtlCol="0" anchor="ctr"/>
          <a:lstStyle/>
          <a:p>
            <a:pPr marL="0" indent="0">
              <a:buNone/>
            </a:pPr>
            <a:r>
              <a:rPr lang="en-US" sz="1200" b="1" dirty="0">
                <a:solidFill>
                  <a:srgbClr val="1C2B2B"/>
                </a:solidFill>
              </a:rPr>
              <a:t>Normalisation ciblée</a:t>
            </a:r>
            <a:endParaRPr lang="en-US" sz="1200" dirty="0"/>
          </a:p>
        </p:txBody>
      </p:sp>
      <p:sp>
        <p:nvSpPr>
          <p:cNvPr id="19" name="Text 17"/>
          <p:cNvSpPr/>
          <p:nvPr/>
        </p:nvSpPr>
        <p:spPr>
          <a:xfrm>
            <a:off x="1051560" y="3410712"/>
            <a:ext cx="3291840" cy="1353312"/>
          </a:xfrm>
          <a:prstGeom prst="rect">
            <a:avLst/>
          </a:prstGeom>
          <a:noFill/>
          <a:ln/>
        </p:spPr>
        <p:txBody>
          <a:bodyPr wrap="square" rtlCol="0" anchor="ctr"/>
          <a:lstStyle/>
          <a:p>
            <a:pPr marL="0" indent="0">
              <a:buNone/>
            </a:pPr>
            <a:r>
              <a:rPr lang="en-US" sz="1050" dirty="0">
                <a:solidFill>
                  <a:srgbClr val="5C6B6B"/>
                </a:solidFill>
                <a:latin typeface="Calibri" pitchFamily="34" charset="0"/>
                <a:ea typeface="Calibri" pitchFamily="34" charset="-122"/>
                <a:cs typeface="Calibri" pitchFamily="34" charset="-120"/>
              </a:rPr>
              <a:t>J'ai mis les montants à la même échelle que les autres variables pour que le modèle puisse les comparer correctement.</a:t>
            </a:r>
            <a:endParaRPr lang="en-US" sz="1050" dirty="0"/>
          </a:p>
        </p:txBody>
      </p:sp>
      <p:sp>
        <p:nvSpPr>
          <p:cNvPr id="20" name="Shape 18"/>
          <p:cNvSpPr/>
          <p:nvPr/>
        </p:nvSpPr>
        <p:spPr>
          <a:xfrm>
            <a:off x="4709160" y="2907792"/>
            <a:ext cx="4206240" cy="196596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sp>
        <p:nvSpPr>
          <p:cNvPr id="21" name="Shape 19"/>
          <p:cNvSpPr/>
          <p:nvPr/>
        </p:nvSpPr>
        <p:spPr>
          <a:xfrm>
            <a:off x="4709160" y="2907792"/>
            <a:ext cx="658368" cy="1965960"/>
          </a:xfrm>
          <a:prstGeom prst="rect">
            <a:avLst/>
          </a:prstGeom>
          <a:solidFill>
            <a:srgbClr val="4A7068"/>
          </a:solidFill>
          <a:ln w="12700">
            <a:solidFill>
              <a:srgbClr val="4A7068"/>
            </a:solidFill>
            <a:prstDash val="solid"/>
          </a:ln>
        </p:spPr>
      </p:sp>
      <p:sp>
        <p:nvSpPr>
          <p:cNvPr id="22" name="Text 20"/>
          <p:cNvSpPr/>
          <p:nvPr/>
        </p:nvSpPr>
        <p:spPr>
          <a:xfrm>
            <a:off x="4709160" y="2907792"/>
            <a:ext cx="658368" cy="1965960"/>
          </a:xfrm>
          <a:prstGeom prst="rect">
            <a:avLst/>
          </a:prstGeom>
          <a:noFill/>
          <a:ln/>
        </p:spPr>
        <p:txBody>
          <a:bodyPr wrap="square" lIns="0" tIns="0" rIns="0" bIns="0" rtlCol="0" anchor="ctr"/>
          <a:lstStyle/>
          <a:p>
            <a:pPr marL="0" indent="0" algn="ctr">
              <a:buNone/>
            </a:pPr>
            <a:r>
              <a:rPr lang="en-US" sz="2000" b="1" dirty="0">
                <a:solidFill>
                  <a:srgbClr val="FFFFFF"/>
                </a:solidFill>
              </a:rPr>
              <a:t>04</a:t>
            </a:r>
            <a:endParaRPr lang="en-US" sz="2000" dirty="0"/>
          </a:p>
        </p:txBody>
      </p:sp>
      <p:sp>
        <p:nvSpPr>
          <p:cNvPr id="23" name="Text 21"/>
          <p:cNvSpPr/>
          <p:nvPr/>
        </p:nvSpPr>
        <p:spPr>
          <a:xfrm>
            <a:off x="5486400" y="3044952"/>
            <a:ext cx="3291840" cy="329184"/>
          </a:xfrm>
          <a:prstGeom prst="rect">
            <a:avLst/>
          </a:prstGeom>
          <a:noFill/>
          <a:ln/>
        </p:spPr>
        <p:txBody>
          <a:bodyPr wrap="square" rtlCol="0" anchor="ctr"/>
          <a:lstStyle/>
          <a:p>
            <a:pPr marL="0" indent="0">
              <a:buNone/>
            </a:pPr>
            <a:r>
              <a:rPr lang="en-US" sz="1200" b="1" dirty="0">
                <a:solidFill>
                  <a:srgbClr val="1C2B2B"/>
                </a:solidFill>
              </a:rPr>
              <a:t>Gestion du déséquilibre</a:t>
            </a:r>
            <a:endParaRPr lang="en-US" sz="1200" dirty="0"/>
          </a:p>
        </p:txBody>
      </p:sp>
      <p:sp>
        <p:nvSpPr>
          <p:cNvPr id="24" name="Text 22"/>
          <p:cNvSpPr/>
          <p:nvPr/>
        </p:nvSpPr>
        <p:spPr>
          <a:xfrm>
            <a:off x="5486400" y="3410712"/>
            <a:ext cx="3291840" cy="1353312"/>
          </a:xfrm>
          <a:prstGeom prst="rect">
            <a:avLst/>
          </a:prstGeom>
          <a:noFill/>
          <a:ln/>
        </p:spPr>
        <p:txBody>
          <a:bodyPr wrap="square" rtlCol="0" anchor="ctr"/>
          <a:lstStyle/>
          <a:p>
            <a:pPr marL="0" indent="0">
              <a:buNone/>
            </a:pPr>
            <a:r>
              <a:rPr lang="en-US" sz="1050" dirty="0">
                <a:solidFill>
                  <a:srgbClr val="5C6B6B"/>
                </a:solidFill>
                <a:latin typeface="Calibri" pitchFamily="34" charset="0"/>
                <a:ea typeface="Calibri" pitchFamily="34" charset="-122"/>
                <a:cs typeface="Calibri" pitchFamily="34" charset="-120"/>
              </a:rPr>
              <a:t>J'ai indiqué aux deux modèles que les fraudes sont rares et importantes — il faut les trouver même si c'est difficile. Et j'ai ajusté le seuil de décision pour détecter un maximum de fraudes.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E"/>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C2B2B"/>
          </a:solidFill>
          <a:ln w="12700">
            <a:solidFill>
              <a:srgbClr val="1C2B2B"/>
            </a:solidFill>
            <a:prstDash val="solid"/>
          </a:ln>
        </p:spPr>
      </p:sp>
      <p:sp>
        <p:nvSpPr>
          <p:cNvPr id="3" name="Shape 1"/>
          <p:cNvSpPr/>
          <p:nvPr/>
        </p:nvSpPr>
        <p:spPr>
          <a:xfrm>
            <a:off x="0" y="0"/>
            <a:ext cx="201168" cy="658368"/>
          </a:xfrm>
          <a:prstGeom prst="rect">
            <a:avLst/>
          </a:prstGeom>
          <a:solidFill>
            <a:srgbClr val="B85C38"/>
          </a:solidFill>
          <a:ln w="12700">
            <a:solidFill>
              <a:srgbClr val="B85C38"/>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Lire les résultats du modèle</a:t>
            </a:r>
            <a:endParaRPr lang="en-US" sz="2000" dirty="0"/>
          </a:p>
        </p:txBody>
      </p:sp>
      <p:sp>
        <p:nvSpPr>
          <p:cNvPr id="5" name="Shape 3"/>
          <p:cNvSpPr/>
          <p:nvPr/>
        </p:nvSpPr>
        <p:spPr>
          <a:xfrm>
            <a:off x="274320" y="777240"/>
            <a:ext cx="4160520" cy="260604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pic>
        <p:nvPicPr>
          <p:cNvPr id="6" name="Image 0" descr="preencoded.png"/>
          <p:cNvPicPr>
            <a:picLocks noChangeAspect="1"/>
          </p:cNvPicPr>
          <p:nvPr/>
        </p:nvPicPr>
        <p:blipFill>
          <a:blip r:embed="rId3"/>
          <a:srcRect/>
          <a:stretch/>
        </p:blipFill>
        <p:spPr>
          <a:xfrm>
            <a:off x="365760" y="841248"/>
            <a:ext cx="3977640" cy="2487168"/>
          </a:xfrm>
          <a:prstGeom prst="rect">
            <a:avLst/>
          </a:prstGeom>
        </p:spPr>
      </p:pic>
      <p:sp>
        <p:nvSpPr>
          <p:cNvPr id="7" name="Shape 4"/>
          <p:cNvSpPr/>
          <p:nvPr/>
        </p:nvSpPr>
        <p:spPr>
          <a:xfrm>
            <a:off x="274320" y="3456432"/>
            <a:ext cx="4160520" cy="1463040"/>
          </a:xfrm>
          <a:prstGeom prst="rect">
            <a:avLst/>
          </a:prstGeom>
          <a:solidFill>
            <a:srgbClr val="F2E0D8"/>
          </a:solidFill>
          <a:ln w="12700">
            <a:solidFill>
              <a:srgbClr val="E8C5B5"/>
            </a:solidFill>
            <a:prstDash val="solid"/>
          </a:ln>
        </p:spPr>
      </p:sp>
      <p:sp>
        <p:nvSpPr>
          <p:cNvPr id="8" name="Shape 5"/>
          <p:cNvSpPr/>
          <p:nvPr/>
        </p:nvSpPr>
        <p:spPr>
          <a:xfrm>
            <a:off x="274320" y="3456432"/>
            <a:ext cx="54864" cy="1463040"/>
          </a:xfrm>
          <a:prstGeom prst="rect">
            <a:avLst/>
          </a:prstGeom>
          <a:solidFill>
            <a:srgbClr val="B85C38"/>
          </a:solidFill>
          <a:ln w="12700">
            <a:solidFill>
              <a:srgbClr val="B85C38"/>
            </a:solidFill>
            <a:prstDash val="solid"/>
          </a:ln>
        </p:spPr>
      </p:sp>
      <p:sp>
        <p:nvSpPr>
          <p:cNvPr id="9" name="Text 6"/>
          <p:cNvSpPr/>
          <p:nvPr/>
        </p:nvSpPr>
        <p:spPr>
          <a:xfrm>
            <a:off x="457200" y="3511296"/>
            <a:ext cx="3840480" cy="274320"/>
          </a:xfrm>
          <a:prstGeom prst="rect">
            <a:avLst/>
          </a:prstGeom>
          <a:noFill/>
          <a:ln/>
        </p:spPr>
        <p:txBody>
          <a:bodyPr wrap="square" rtlCol="0" anchor="ctr"/>
          <a:lstStyle/>
          <a:p>
            <a:pPr marL="0" indent="0">
              <a:buNone/>
            </a:pPr>
            <a:r>
              <a:rPr lang="en-US" sz="1100" b="1" dirty="0">
                <a:solidFill>
                  <a:srgbClr val="1C2B2B"/>
                </a:solidFill>
              </a:rPr>
              <a:t>📈  Precision-Recall vs Seuil</a:t>
            </a:r>
            <a:endParaRPr lang="en-US" sz="1100" dirty="0"/>
          </a:p>
        </p:txBody>
      </p:sp>
      <p:sp>
        <p:nvSpPr>
          <p:cNvPr id="10" name="Text 7"/>
          <p:cNvSpPr/>
          <p:nvPr/>
        </p:nvSpPr>
        <p:spPr>
          <a:xfrm>
            <a:off x="457200" y="3822192"/>
            <a:ext cx="3840480" cy="1024128"/>
          </a:xfrm>
          <a:prstGeom prst="rect">
            <a:avLst/>
          </a:prstGeom>
          <a:noFill/>
          <a:ln/>
        </p:spPr>
        <p:txBody>
          <a:bodyPr wrap="square" rtlCol="0" anchor="ctr"/>
          <a:lstStyle/>
          <a:p>
            <a:pPr marL="0" indent="0">
              <a:buNone/>
            </a:pPr>
            <a:r>
              <a:rPr lang="en-US" sz="1000" dirty="0">
                <a:solidFill>
                  <a:srgbClr val="1C2B2B"/>
                </a:solidFill>
                <a:latin typeface="Calibri" pitchFamily="34" charset="0"/>
                <a:ea typeface="Calibri" pitchFamily="34" charset="-122"/>
                <a:cs typeface="Calibri" pitchFamily="34" charset="-120"/>
              </a:rPr>
              <a:t>La courbe rouge montre le Recall : plus le seuil est bas, plus on détecte de fraudes. La courbe bleue montre la Précision : plus le seuil est haut, moins on fait de fausses alertes. J'ai choisi 0.3 — le bon équilibre pour ne pas rater de fraudes.</a:t>
            </a:r>
            <a:endParaRPr lang="en-US" sz="1000" dirty="0"/>
          </a:p>
        </p:txBody>
      </p:sp>
      <p:sp>
        <p:nvSpPr>
          <p:cNvPr id="11" name="Shape 8"/>
          <p:cNvSpPr/>
          <p:nvPr/>
        </p:nvSpPr>
        <p:spPr>
          <a:xfrm>
            <a:off x="4709160" y="777240"/>
            <a:ext cx="4160520" cy="260604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pic>
        <p:nvPicPr>
          <p:cNvPr id="12" name="Image 1" descr="preencoded.png"/>
          <p:cNvPicPr>
            <a:picLocks noChangeAspect="1"/>
          </p:cNvPicPr>
          <p:nvPr/>
        </p:nvPicPr>
        <p:blipFill>
          <a:blip r:embed="rId4"/>
          <a:srcRect/>
          <a:stretch/>
        </p:blipFill>
        <p:spPr>
          <a:xfrm>
            <a:off x="4800600" y="841248"/>
            <a:ext cx="3977640" cy="2487168"/>
          </a:xfrm>
          <a:prstGeom prst="rect">
            <a:avLst/>
          </a:prstGeom>
        </p:spPr>
      </p:pic>
      <p:sp>
        <p:nvSpPr>
          <p:cNvPr id="13" name="Shape 9"/>
          <p:cNvSpPr/>
          <p:nvPr/>
        </p:nvSpPr>
        <p:spPr>
          <a:xfrm>
            <a:off x="4709160" y="3456432"/>
            <a:ext cx="4160520" cy="1463040"/>
          </a:xfrm>
          <a:prstGeom prst="rect">
            <a:avLst/>
          </a:prstGeom>
          <a:solidFill>
            <a:srgbClr val="DFF0EB"/>
          </a:solidFill>
          <a:ln w="12700">
            <a:solidFill>
              <a:srgbClr val="C5DDD9"/>
            </a:solidFill>
            <a:prstDash val="solid"/>
          </a:ln>
        </p:spPr>
      </p:sp>
      <p:sp>
        <p:nvSpPr>
          <p:cNvPr id="14" name="Shape 10"/>
          <p:cNvSpPr/>
          <p:nvPr/>
        </p:nvSpPr>
        <p:spPr>
          <a:xfrm>
            <a:off x="4709160" y="3456432"/>
            <a:ext cx="54864" cy="1463040"/>
          </a:xfrm>
          <a:prstGeom prst="rect">
            <a:avLst/>
          </a:prstGeom>
          <a:solidFill>
            <a:srgbClr val="4A7068"/>
          </a:solidFill>
          <a:ln w="12700">
            <a:solidFill>
              <a:srgbClr val="4A7068"/>
            </a:solidFill>
            <a:prstDash val="solid"/>
          </a:ln>
        </p:spPr>
      </p:sp>
      <p:sp>
        <p:nvSpPr>
          <p:cNvPr id="15" name="Text 11"/>
          <p:cNvSpPr/>
          <p:nvPr/>
        </p:nvSpPr>
        <p:spPr>
          <a:xfrm>
            <a:off x="4892040" y="3511296"/>
            <a:ext cx="3840480" cy="274320"/>
          </a:xfrm>
          <a:prstGeom prst="rect">
            <a:avLst/>
          </a:prstGeom>
          <a:noFill/>
          <a:ln/>
        </p:spPr>
        <p:txBody>
          <a:bodyPr wrap="square" rtlCol="0" anchor="ctr"/>
          <a:lstStyle/>
          <a:p>
            <a:pPr marL="0" indent="0">
              <a:buNone/>
            </a:pPr>
            <a:r>
              <a:rPr lang="en-US" sz="1100" b="1" dirty="0">
                <a:solidFill>
                  <a:srgbClr val="1C2B2B"/>
                </a:solidFill>
              </a:rPr>
              <a:t>📊  Distribution des probabilités</a:t>
            </a:r>
            <a:endParaRPr lang="en-US" sz="1100" dirty="0"/>
          </a:p>
        </p:txBody>
      </p:sp>
      <p:sp>
        <p:nvSpPr>
          <p:cNvPr id="16" name="Text 12"/>
          <p:cNvSpPr/>
          <p:nvPr/>
        </p:nvSpPr>
        <p:spPr>
          <a:xfrm>
            <a:off x="4892040" y="3822192"/>
            <a:ext cx="3840480" cy="1024128"/>
          </a:xfrm>
          <a:prstGeom prst="rect">
            <a:avLst/>
          </a:prstGeom>
          <a:noFill/>
          <a:ln/>
        </p:spPr>
        <p:txBody>
          <a:bodyPr wrap="square" rtlCol="0" anchor="ctr"/>
          <a:lstStyle/>
          <a:p>
            <a:pPr marL="0" indent="0">
              <a:buNone/>
            </a:pPr>
            <a:r>
              <a:rPr lang="en-US" sz="1000" dirty="0">
                <a:solidFill>
                  <a:srgbClr val="1C2B2B"/>
                </a:solidFill>
                <a:latin typeface="Calibri" pitchFamily="34" charset="0"/>
                <a:ea typeface="Calibri" pitchFamily="34" charset="-122"/>
                <a:cs typeface="Calibri" pitchFamily="34" charset="-120"/>
              </a:rPr>
              <a:t>La quasi-totalité des transactions obtiennent une probabilité très proche de 0 — le modèle est confiant qu'elles sont normales. Seule une toute petite partie dépasse 0.3. Ce sont ces transactions que le modèle signale comme suspectes.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E"/>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C2B2B"/>
          </a:solidFill>
          <a:ln w="12700">
            <a:solidFill>
              <a:srgbClr val="1C2B2B"/>
            </a:solidFill>
            <a:prstDash val="solid"/>
          </a:ln>
        </p:spPr>
      </p:sp>
      <p:sp>
        <p:nvSpPr>
          <p:cNvPr id="3" name="Shape 1"/>
          <p:cNvSpPr/>
          <p:nvPr/>
        </p:nvSpPr>
        <p:spPr>
          <a:xfrm>
            <a:off x="0" y="0"/>
            <a:ext cx="201168" cy="658368"/>
          </a:xfrm>
          <a:prstGeom prst="rect">
            <a:avLst/>
          </a:prstGeom>
          <a:solidFill>
            <a:srgbClr val="B85C38"/>
          </a:solidFill>
          <a:ln w="12700">
            <a:solidFill>
              <a:srgbClr val="B85C38"/>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Est-ce que le modèle fonctionne bien ?</a:t>
            </a:r>
            <a:endParaRPr lang="en-US" sz="2000" dirty="0"/>
          </a:p>
        </p:txBody>
      </p:sp>
      <p:sp>
        <p:nvSpPr>
          <p:cNvPr id="5" name="Shape 3"/>
          <p:cNvSpPr/>
          <p:nvPr/>
        </p:nvSpPr>
        <p:spPr>
          <a:xfrm>
            <a:off x="274320" y="777240"/>
            <a:ext cx="3931920" cy="260604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pic>
        <p:nvPicPr>
          <p:cNvPr id="6" name="Image 0" descr="preencoded.png"/>
          <p:cNvPicPr>
            <a:picLocks noChangeAspect="1"/>
          </p:cNvPicPr>
          <p:nvPr/>
        </p:nvPicPr>
        <p:blipFill>
          <a:blip r:embed="rId3"/>
          <a:srcRect/>
          <a:stretch/>
        </p:blipFill>
        <p:spPr>
          <a:xfrm>
            <a:off x="365760" y="841248"/>
            <a:ext cx="3749040" cy="2487168"/>
          </a:xfrm>
          <a:prstGeom prst="rect">
            <a:avLst/>
          </a:prstGeom>
        </p:spPr>
      </p:pic>
      <p:sp>
        <p:nvSpPr>
          <p:cNvPr id="7" name="Shape 4"/>
          <p:cNvSpPr/>
          <p:nvPr/>
        </p:nvSpPr>
        <p:spPr>
          <a:xfrm>
            <a:off x="274320" y="3456432"/>
            <a:ext cx="3931920" cy="1463040"/>
          </a:xfrm>
          <a:prstGeom prst="rect">
            <a:avLst/>
          </a:prstGeom>
          <a:solidFill>
            <a:srgbClr val="F2E0D8"/>
          </a:solidFill>
          <a:ln w="12700">
            <a:solidFill>
              <a:srgbClr val="E8C5B5"/>
            </a:solidFill>
            <a:prstDash val="solid"/>
          </a:ln>
        </p:spPr>
      </p:sp>
      <p:sp>
        <p:nvSpPr>
          <p:cNvPr id="8" name="Shape 5"/>
          <p:cNvSpPr/>
          <p:nvPr/>
        </p:nvSpPr>
        <p:spPr>
          <a:xfrm>
            <a:off x="274320" y="3456432"/>
            <a:ext cx="54864" cy="1463040"/>
          </a:xfrm>
          <a:prstGeom prst="rect">
            <a:avLst/>
          </a:prstGeom>
          <a:solidFill>
            <a:srgbClr val="B85C38"/>
          </a:solidFill>
          <a:ln w="12700">
            <a:solidFill>
              <a:srgbClr val="B85C38"/>
            </a:solidFill>
            <a:prstDash val="solid"/>
          </a:ln>
        </p:spPr>
      </p:sp>
      <p:sp>
        <p:nvSpPr>
          <p:cNvPr id="9" name="Text 6"/>
          <p:cNvSpPr/>
          <p:nvPr/>
        </p:nvSpPr>
        <p:spPr>
          <a:xfrm>
            <a:off x="457200" y="3511296"/>
            <a:ext cx="3657600" cy="274320"/>
          </a:xfrm>
          <a:prstGeom prst="rect">
            <a:avLst/>
          </a:prstGeom>
          <a:noFill/>
          <a:ln/>
        </p:spPr>
        <p:txBody>
          <a:bodyPr wrap="square" rtlCol="0" anchor="ctr"/>
          <a:lstStyle/>
          <a:p>
            <a:pPr marL="0" indent="0">
              <a:buNone/>
            </a:pPr>
            <a:r>
              <a:rPr lang="en-US" sz="1100" b="1" dirty="0">
                <a:solidFill>
                  <a:srgbClr val="1C2B2B"/>
                </a:solidFill>
              </a:rPr>
              <a:t>🔲  Matrice de confusion</a:t>
            </a:r>
            <a:endParaRPr lang="en-US" sz="1100" dirty="0"/>
          </a:p>
        </p:txBody>
      </p:sp>
      <p:sp>
        <p:nvSpPr>
          <p:cNvPr id="10" name="Text 7"/>
          <p:cNvSpPr/>
          <p:nvPr/>
        </p:nvSpPr>
        <p:spPr>
          <a:xfrm>
            <a:off x="457200" y="3822192"/>
            <a:ext cx="3657600" cy="1024128"/>
          </a:xfrm>
          <a:prstGeom prst="rect">
            <a:avLst/>
          </a:prstGeom>
          <a:noFill/>
          <a:ln/>
        </p:spPr>
        <p:txBody>
          <a:bodyPr wrap="square" rtlCol="0" anchor="ctr"/>
          <a:lstStyle/>
          <a:p>
            <a:pPr marL="0" indent="0">
              <a:buNone/>
            </a:pPr>
            <a:r>
              <a:rPr lang="en-US" sz="1000" dirty="0">
                <a:solidFill>
                  <a:srgbClr val="1C2B2B"/>
                </a:solidFill>
                <a:latin typeface="Calibri" pitchFamily="34" charset="0"/>
                <a:ea typeface="Calibri" pitchFamily="34" charset="-122"/>
                <a:cs typeface="Calibri" pitchFamily="34" charset="-120"/>
              </a:rPr>
              <a:t>Ce tableau montre ce que le modèle a prédit vs ce qui était réel. Sur 98 vraies fraudes : 85 correctement détectées (87 %) et seulement 13 manquées. Sur 56 864 transactions normales : 56 828 bien identifiées et seulement 36 signalées à tort.</a:t>
            </a:r>
            <a:endParaRPr lang="en-US" sz="1000" dirty="0"/>
          </a:p>
        </p:txBody>
      </p:sp>
      <p:sp>
        <p:nvSpPr>
          <p:cNvPr id="11" name="Shape 8"/>
          <p:cNvSpPr/>
          <p:nvPr/>
        </p:nvSpPr>
        <p:spPr>
          <a:xfrm>
            <a:off x="4480560" y="777240"/>
            <a:ext cx="4389120" cy="260604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pic>
        <p:nvPicPr>
          <p:cNvPr id="12" name="Image 1" descr="preencoded.png"/>
          <p:cNvPicPr>
            <a:picLocks noChangeAspect="1"/>
          </p:cNvPicPr>
          <p:nvPr/>
        </p:nvPicPr>
        <p:blipFill>
          <a:blip r:embed="rId4"/>
          <a:srcRect/>
          <a:stretch/>
        </p:blipFill>
        <p:spPr>
          <a:xfrm>
            <a:off x="4572000" y="841248"/>
            <a:ext cx="4206240" cy="2487168"/>
          </a:xfrm>
          <a:prstGeom prst="rect">
            <a:avLst/>
          </a:prstGeom>
        </p:spPr>
      </p:pic>
      <p:sp>
        <p:nvSpPr>
          <p:cNvPr id="13" name="Shape 9"/>
          <p:cNvSpPr/>
          <p:nvPr/>
        </p:nvSpPr>
        <p:spPr>
          <a:xfrm>
            <a:off x="4480560" y="3456432"/>
            <a:ext cx="4389120" cy="1463040"/>
          </a:xfrm>
          <a:prstGeom prst="rect">
            <a:avLst/>
          </a:prstGeom>
          <a:solidFill>
            <a:srgbClr val="DFF0EB"/>
          </a:solidFill>
          <a:ln w="12700">
            <a:solidFill>
              <a:srgbClr val="C5DDD9"/>
            </a:solidFill>
            <a:prstDash val="solid"/>
          </a:ln>
        </p:spPr>
      </p:sp>
      <p:sp>
        <p:nvSpPr>
          <p:cNvPr id="14" name="Shape 10"/>
          <p:cNvSpPr/>
          <p:nvPr/>
        </p:nvSpPr>
        <p:spPr>
          <a:xfrm>
            <a:off x="4480560" y="3456432"/>
            <a:ext cx="54864" cy="1463040"/>
          </a:xfrm>
          <a:prstGeom prst="rect">
            <a:avLst/>
          </a:prstGeom>
          <a:solidFill>
            <a:srgbClr val="4A7068"/>
          </a:solidFill>
          <a:ln w="12700">
            <a:solidFill>
              <a:srgbClr val="4A7068"/>
            </a:solidFill>
            <a:prstDash val="solid"/>
          </a:ln>
        </p:spPr>
      </p:sp>
      <p:sp>
        <p:nvSpPr>
          <p:cNvPr id="15" name="Text 11"/>
          <p:cNvSpPr/>
          <p:nvPr/>
        </p:nvSpPr>
        <p:spPr>
          <a:xfrm>
            <a:off x="4663440" y="3511296"/>
            <a:ext cx="4114800" cy="274320"/>
          </a:xfrm>
          <a:prstGeom prst="rect">
            <a:avLst/>
          </a:prstGeom>
          <a:noFill/>
          <a:ln/>
        </p:spPr>
        <p:txBody>
          <a:bodyPr wrap="square" rtlCol="0" anchor="ctr"/>
          <a:lstStyle/>
          <a:p>
            <a:pPr marL="0" indent="0">
              <a:buNone/>
            </a:pPr>
            <a:r>
              <a:rPr lang="en-US" sz="1100" b="1" dirty="0">
                <a:solidFill>
                  <a:srgbClr val="1C2B2B"/>
                </a:solidFill>
              </a:rPr>
              <a:t>📊  Comparaison des deux modèles</a:t>
            </a:r>
            <a:endParaRPr lang="en-US" sz="1100" dirty="0"/>
          </a:p>
        </p:txBody>
      </p:sp>
      <p:sp>
        <p:nvSpPr>
          <p:cNvPr id="16" name="Text 12"/>
          <p:cNvSpPr/>
          <p:nvPr/>
        </p:nvSpPr>
        <p:spPr>
          <a:xfrm>
            <a:off x="4663440" y="3822192"/>
            <a:ext cx="4114800" cy="1024128"/>
          </a:xfrm>
          <a:prstGeom prst="rect">
            <a:avLst/>
          </a:prstGeom>
          <a:noFill/>
          <a:ln/>
        </p:spPr>
        <p:txBody>
          <a:bodyPr wrap="square" rtlCol="0" anchor="ctr"/>
          <a:lstStyle/>
          <a:p>
            <a:pPr marL="0" indent="0">
              <a:buNone/>
            </a:pPr>
            <a:r>
              <a:rPr lang="en-US" sz="1000" dirty="0">
                <a:solidFill>
                  <a:srgbClr val="1C2B2B"/>
                </a:solidFill>
                <a:latin typeface="Calibri" pitchFamily="34" charset="0"/>
                <a:ea typeface="Calibri" pitchFamily="34" charset="-122"/>
                <a:cs typeface="Calibri" pitchFamily="34" charset="-120"/>
              </a:rPr>
              <a:t>Chaque paire de barres compare la Régression Logistique à XGBoost. La barre violette (PR-AUC) mesure la performance sur les fraudes — XGBoost est nettement plus haute : 0.87 contre 0.72. La barre bleue (ROC-AUC) confirme que XGBoost distingue mieux les deux classes.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E"/>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C2B2B"/>
          </a:solidFill>
          <a:ln w="12700">
            <a:solidFill>
              <a:srgbClr val="1C2B2B"/>
            </a:solidFill>
            <a:prstDash val="solid"/>
          </a:ln>
        </p:spPr>
      </p:sp>
      <p:sp>
        <p:nvSpPr>
          <p:cNvPr id="3" name="Shape 1"/>
          <p:cNvSpPr/>
          <p:nvPr/>
        </p:nvSpPr>
        <p:spPr>
          <a:xfrm>
            <a:off x="0" y="0"/>
            <a:ext cx="201168" cy="658368"/>
          </a:xfrm>
          <a:prstGeom prst="rect">
            <a:avLst/>
          </a:prstGeom>
          <a:solidFill>
            <a:srgbClr val="B85C38"/>
          </a:solidFill>
          <a:ln w="12700">
            <a:solidFill>
              <a:srgbClr val="B85C38"/>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Comprendre les prédictions avec SHAP</a:t>
            </a:r>
            <a:endParaRPr lang="en-US" sz="2000" dirty="0"/>
          </a:p>
        </p:txBody>
      </p:sp>
      <p:sp>
        <p:nvSpPr>
          <p:cNvPr id="5" name="Shape 3"/>
          <p:cNvSpPr/>
          <p:nvPr/>
        </p:nvSpPr>
        <p:spPr>
          <a:xfrm>
            <a:off x="228600" y="777240"/>
            <a:ext cx="2788920" cy="411480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pic>
        <p:nvPicPr>
          <p:cNvPr id="6" name="Image 0" descr="preencoded.png"/>
          <p:cNvPicPr>
            <a:picLocks noChangeAspect="1"/>
          </p:cNvPicPr>
          <p:nvPr/>
        </p:nvPicPr>
        <p:blipFill>
          <a:blip r:embed="rId3"/>
          <a:srcRect/>
          <a:stretch/>
        </p:blipFill>
        <p:spPr>
          <a:xfrm>
            <a:off x="301752" y="841248"/>
            <a:ext cx="2642616" cy="3611880"/>
          </a:xfrm>
          <a:prstGeom prst="rect">
            <a:avLst/>
          </a:prstGeom>
        </p:spPr>
      </p:pic>
      <p:sp>
        <p:nvSpPr>
          <p:cNvPr id="7" name="Text 4"/>
          <p:cNvSpPr/>
          <p:nvPr/>
        </p:nvSpPr>
        <p:spPr>
          <a:xfrm>
            <a:off x="228600" y="4462272"/>
            <a:ext cx="2788920" cy="384048"/>
          </a:xfrm>
          <a:prstGeom prst="rect">
            <a:avLst/>
          </a:prstGeom>
          <a:noFill/>
          <a:ln/>
        </p:spPr>
        <p:txBody>
          <a:bodyPr wrap="square" rtlCol="0" anchor="ctr"/>
          <a:lstStyle/>
          <a:p>
            <a:pPr marL="0" indent="0" algn="ctr">
              <a:buNone/>
            </a:pPr>
            <a:r>
              <a:rPr lang="en-US" sz="950" b="1" dirty="0">
                <a:solidFill>
                  <a:srgbClr val="1C2B2B"/>
                </a:solidFill>
              </a:rPr>
              <a:t>SHAP — Régression Logistique</a:t>
            </a:r>
            <a:endParaRPr lang="en-US" sz="950" dirty="0"/>
          </a:p>
        </p:txBody>
      </p:sp>
      <p:sp>
        <p:nvSpPr>
          <p:cNvPr id="8" name="Shape 5"/>
          <p:cNvSpPr/>
          <p:nvPr/>
        </p:nvSpPr>
        <p:spPr>
          <a:xfrm>
            <a:off x="3218688" y="777240"/>
            <a:ext cx="2788920" cy="411480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pic>
        <p:nvPicPr>
          <p:cNvPr id="9" name="Image 1" descr="preencoded.png"/>
          <p:cNvPicPr>
            <a:picLocks noChangeAspect="1"/>
          </p:cNvPicPr>
          <p:nvPr/>
        </p:nvPicPr>
        <p:blipFill>
          <a:blip r:embed="rId4"/>
          <a:srcRect/>
          <a:stretch/>
        </p:blipFill>
        <p:spPr>
          <a:xfrm>
            <a:off x="3291840" y="841248"/>
            <a:ext cx="2642616" cy="3611880"/>
          </a:xfrm>
          <a:prstGeom prst="rect">
            <a:avLst/>
          </a:prstGeom>
        </p:spPr>
      </p:pic>
      <p:sp>
        <p:nvSpPr>
          <p:cNvPr id="10" name="Text 6"/>
          <p:cNvSpPr/>
          <p:nvPr/>
        </p:nvSpPr>
        <p:spPr>
          <a:xfrm>
            <a:off x="3218688" y="4462272"/>
            <a:ext cx="2788920" cy="384048"/>
          </a:xfrm>
          <a:prstGeom prst="rect">
            <a:avLst/>
          </a:prstGeom>
          <a:noFill/>
          <a:ln/>
        </p:spPr>
        <p:txBody>
          <a:bodyPr wrap="square" rtlCol="0" anchor="ctr"/>
          <a:lstStyle/>
          <a:p>
            <a:pPr marL="0" indent="0" algn="ctr">
              <a:buNone/>
            </a:pPr>
            <a:r>
              <a:rPr lang="en-US" sz="950" b="1" dirty="0">
                <a:solidFill>
                  <a:srgbClr val="1C2B2B"/>
                </a:solidFill>
              </a:rPr>
              <a:t>SHAP — XGBoost (importance globale)</a:t>
            </a:r>
            <a:endParaRPr lang="en-US" sz="950" dirty="0"/>
          </a:p>
        </p:txBody>
      </p:sp>
      <p:sp>
        <p:nvSpPr>
          <p:cNvPr id="11" name="Shape 7"/>
          <p:cNvSpPr/>
          <p:nvPr/>
        </p:nvSpPr>
        <p:spPr>
          <a:xfrm>
            <a:off x="6217920" y="777240"/>
            <a:ext cx="2651760" cy="205740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pic>
        <p:nvPicPr>
          <p:cNvPr id="12" name="Image 2" descr="preencoded.png"/>
          <p:cNvPicPr>
            <a:picLocks noChangeAspect="1"/>
          </p:cNvPicPr>
          <p:nvPr/>
        </p:nvPicPr>
        <p:blipFill>
          <a:blip r:embed="rId5"/>
          <a:srcRect/>
          <a:stretch/>
        </p:blipFill>
        <p:spPr>
          <a:xfrm>
            <a:off x="6291072" y="841248"/>
            <a:ext cx="2505456" cy="1691640"/>
          </a:xfrm>
          <a:prstGeom prst="rect">
            <a:avLst/>
          </a:prstGeom>
        </p:spPr>
      </p:pic>
      <p:sp>
        <p:nvSpPr>
          <p:cNvPr id="13" name="Text 8"/>
          <p:cNvSpPr/>
          <p:nvPr/>
        </p:nvSpPr>
        <p:spPr>
          <a:xfrm>
            <a:off x="6217920" y="2880360"/>
            <a:ext cx="2651760" cy="274320"/>
          </a:xfrm>
          <a:prstGeom prst="rect">
            <a:avLst/>
          </a:prstGeom>
          <a:noFill/>
          <a:ln/>
        </p:spPr>
        <p:txBody>
          <a:bodyPr wrap="square" rtlCol="0" anchor="ctr"/>
          <a:lstStyle/>
          <a:p>
            <a:pPr marL="0" indent="0" algn="ctr">
              <a:buNone/>
            </a:pPr>
            <a:r>
              <a:rPr lang="en-US" sz="950" b="1" dirty="0">
                <a:solidFill>
                  <a:srgbClr val="1C2B2B"/>
                </a:solidFill>
              </a:rPr>
              <a:t>Transaction frauduleuse</a:t>
            </a:r>
            <a:endParaRPr lang="en-US" sz="950" dirty="0"/>
          </a:p>
        </p:txBody>
      </p:sp>
      <p:sp>
        <p:nvSpPr>
          <p:cNvPr id="14" name="Shape 9"/>
          <p:cNvSpPr/>
          <p:nvPr/>
        </p:nvSpPr>
        <p:spPr>
          <a:xfrm>
            <a:off x="6217920" y="3218688"/>
            <a:ext cx="2651760" cy="1664208"/>
          </a:xfrm>
          <a:prstGeom prst="rect">
            <a:avLst/>
          </a:prstGeom>
          <a:solidFill>
            <a:srgbClr val="F2E0D8"/>
          </a:solidFill>
          <a:ln w="12700">
            <a:solidFill>
              <a:srgbClr val="E8C5B5"/>
            </a:solidFill>
            <a:prstDash val="solid"/>
          </a:ln>
        </p:spPr>
      </p:sp>
      <p:sp>
        <p:nvSpPr>
          <p:cNvPr id="15" name="Shape 10"/>
          <p:cNvSpPr/>
          <p:nvPr/>
        </p:nvSpPr>
        <p:spPr>
          <a:xfrm>
            <a:off x="6217920" y="3218688"/>
            <a:ext cx="54864" cy="1664208"/>
          </a:xfrm>
          <a:prstGeom prst="rect">
            <a:avLst/>
          </a:prstGeom>
          <a:solidFill>
            <a:srgbClr val="B85C38"/>
          </a:solidFill>
          <a:ln w="12700">
            <a:solidFill>
              <a:srgbClr val="B85C38"/>
            </a:solidFill>
            <a:prstDash val="solid"/>
          </a:ln>
        </p:spPr>
      </p:sp>
      <p:sp>
        <p:nvSpPr>
          <p:cNvPr id="16" name="Text 11"/>
          <p:cNvSpPr/>
          <p:nvPr/>
        </p:nvSpPr>
        <p:spPr>
          <a:xfrm>
            <a:off x="6382512" y="3273552"/>
            <a:ext cx="2395728" cy="274320"/>
          </a:xfrm>
          <a:prstGeom prst="rect">
            <a:avLst/>
          </a:prstGeom>
          <a:noFill/>
          <a:ln/>
        </p:spPr>
        <p:txBody>
          <a:bodyPr wrap="square" rtlCol="0" anchor="ctr"/>
          <a:lstStyle/>
          <a:p>
            <a:pPr marL="0" indent="0">
              <a:buNone/>
            </a:pPr>
            <a:r>
              <a:rPr lang="en-US" sz="1100" b="1" dirty="0">
                <a:solidFill>
                  <a:srgbClr val="1C2B2B"/>
                </a:solidFill>
              </a:rPr>
              <a:t>Ce que j'ai compris</a:t>
            </a:r>
            <a:endParaRPr lang="en-US" sz="1100" dirty="0"/>
          </a:p>
        </p:txBody>
      </p:sp>
      <p:sp>
        <p:nvSpPr>
          <p:cNvPr id="17" name="Text 12"/>
          <p:cNvSpPr/>
          <p:nvPr/>
        </p:nvSpPr>
        <p:spPr>
          <a:xfrm>
            <a:off x="6382512" y="3584448"/>
            <a:ext cx="2395728" cy="1234440"/>
          </a:xfrm>
          <a:prstGeom prst="rect">
            <a:avLst/>
          </a:prstGeom>
          <a:noFill/>
          <a:ln/>
        </p:spPr>
        <p:txBody>
          <a:bodyPr wrap="square" rtlCol="0" anchor="ctr"/>
          <a:lstStyle/>
          <a:p>
            <a:pPr marL="0" indent="0">
              <a:buNone/>
            </a:pPr>
            <a:r>
              <a:rPr lang="en-US" sz="1000" dirty="0">
                <a:solidFill>
                  <a:srgbClr val="1C2B2B"/>
                </a:solidFill>
                <a:latin typeface="Calibri" pitchFamily="34" charset="0"/>
                <a:ea typeface="Calibri" pitchFamily="34" charset="-122"/>
                <a:cs typeface="Calibri" pitchFamily="34" charset="-120"/>
              </a:rPr>
              <a:t>V14 est de loin la variable la plus déterminante (+3.59). La fraude n'est pas liée au montant mais à des comportements transactionnels invisibles à l'œil nu — c'est là toute la force du ML.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E"/>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C2B2B"/>
          </a:solidFill>
          <a:ln w="12700">
            <a:solidFill>
              <a:srgbClr val="1C2B2B"/>
            </a:solidFill>
            <a:prstDash val="solid"/>
          </a:ln>
        </p:spPr>
      </p:sp>
      <p:sp>
        <p:nvSpPr>
          <p:cNvPr id="3" name="Shape 1"/>
          <p:cNvSpPr/>
          <p:nvPr/>
        </p:nvSpPr>
        <p:spPr>
          <a:xfrm>
            <a:off x="0" y="0"/>
            <a:ext cx="201168" cy="658368"/>
          </a:xfrm>
          <a:prstGeom prst="rect">
            <a:avLst/>
          </a:prstGeom>
          <a:solidFill>
            <a:srgbClr val="B85C38"/>
          </a:solidFill>
          <a:ln w="12700">
            <a:solidFill>
              <a:srgbClr val="B85C38"/>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Le tableau de bord Power BI</a:t>
            </a:r>
            <a:endParaRPr lang="en-US" sz="2000" dirty="0"/>
          </a:p>
        </p:txBody>
      </p:sp>
      <p:sp>
        <p:nvSpPr>
          <p:cNvPr id="5" name="Shape 3"/>
          <p:cNvSpPr/>
          <p:nvPr/>
        </p:nvSpPr>
        <p:spPr>
          <a:xfrm>
            <a:off x="274320" y="777240"/>
            <a:ext cx="5120640" cy="301752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pic>
        <p:nvPicPr>
          <p:cNvPr id="6" name="Image 0" descr="preencoded.png"/>
          <p:cNvPicPr>
            <a:picLocks noChangeAspect="1"/>
          </p:cNvPicPr>
          <p:nvPr/>
        </p:nvPicPr>
        <p:blipFill>
          <a:blip r:embed="rId3"/>
          <a:srcRect/>
          <a:stretch/>
        </p:blipFill>
        <p:spPr>
          <a:xfrm>
            <a:off x="320040" y="822960"/>
            <a:ext cx="5029200" cy="2926080"/>
          </a:xfrm>
          <a:prstGeom prst="rect">
            <a:avLst/>
          </a:prstGeom>
        </p:spPr>
      </p:pic>
      <p:sp>
        <p:nvSpPr>
          <p:cNvPr id="7" name="Shape 4"/>
          <p:cNvSpPr/>
          <p:nvPr/>
        </p:nvSpPr>
        <p:spPr>
          <a:xfrm>
            <a:off x="5623560" y="777240"/>
            <a:ext cx="3246120" cy="3017520"/>
          </a:xfrm>
          <a:prstGeom prst="rect">
            <a:avLst/>
          </a:prstGeom>
          <a:solidFill>
            <a:srgbClr val="FFFFFF"/>
          </a:solidFill>
          <a:ln w="12700">
            <a:solidFill>
              <a:srgbClr val="E2D9CF"/>
            </a:solidFill>
            <a:prstDash val="solid"/>
          </a:ln>
          <a:effectLst>
            <a:outerShdw blurRad="101600" dist="38100" dir="8100000" algn="bl" rotWithShape="0">
              <a:srgbClr val="000000">
                <a:alpha val="8000"/>
              </a:srgbClr>
            </a:outerShdw>
          </a:effectLst>
        </p:spPr>
      </p:sp>
      <p:sp>
        <p:nvSpPr>
          <p:cNvPr id="8" name="Shape 5"/>
          <p:cNvSpPr/>
          <p:nvPr/>
        </p:nvSpPr>
        <p:spPr>
          <a:xfrm>
            <a:off x="5623560" y="777240"/>
            <a:ext cx="54864" cy="3017520"/>
          </a:xfrm>
          <a:prstGeom prst="rect">
            <a:avLst/>
          </a:prstGeom>
          <a:solidFill>
            <a:srgbClr val="B85C38"/>
          </a:solidFill>
          <a:ln w="12700">
            <a:solidFill>
              <a:srgbClr val="B85C38"/>
            </a:solidFill>
            <a:prstDash val="solid"/>
          </a:ln>
        </p:spPr>
      </p:sp>
      <p:sp>
        <p:nvSpPr>
          <p:cNvPr id="9" name="Text 6"/>
          <p:cNvSpPr/>
          <p:nvPr/>
        </p:nvSpPr>
        <p:spPr>
          <a:xfrm>
            <a:off x="5806440" y="841248"/>
            <a:ext cx="2926080" cy="292608"/>
          </a:xfrm>
          <a:prstGeom prst="rect">
            <a:avLst/>
          </a:prstGeom>
          <a:noFill/>
          <a:ln/>
        </p:spPr>
        <p:txBody>
          <a:bodyPr wrap="square" rtlCol="0" anchor="ctr"/>
          <a:lstStyle/>
          <a:p>
            <a:pPr marL="0" indent="0">
              <a:buNone/>
            </a:pPr>
            <a:r>
              <a:rPr lang="en-US" sz="1100" b="1" dirty="0">
                <a:solidFill>
                  <a:srgbClr val="1C2B2B"/>
                </a:solidFill>
              </a:rPr>
              <a:t>Les KPIs en haut du dashboard</a:t>
            </a:r>
            <a:endParaRPr lang="en-US" sz="1100" dirty="0"/>
          </a:p>
        </p:txBody>
      </p:sp>
      <p:sp>
        <p:nvSpPr>
          <p:cNvPr id="10" name="Shape 7"/>
          <p:cNvSpPr/>
          <p:nvPr/>
        </p:nvSpPr>
        <p:spPr>
          <a:xfrm>
            <a:off x="5806440" y="1170432"/>
            <a:ext cx="502920" cy="256032"/>
          </a:xfrm>
          <a:prstGeom prst="rect">
            <a:avLst/>
          </a:prstGeom>
          <a:solidFill>
            <a:srgbClr val="B85C38"/>
          </a:solidFill>
          <a:ln w="12700">
            <a:solidFill>
              <a:srgbClr val="B85C38"/>
            </a:solidFill>
            <a:prstDash val="solid"/>
          </a:ln>
        </p:spPr>
      </p:sp>
      <p:sp>
        <p:nvSpPr>
          <p:cNvPr id="11" name="Text 8"/>
          <p:cNvSpPr/>
          <p:nvPr/>
        </p:nvSpPr>
        <p:spPr>
          <a:xfrm>
            <a:off x="5806440" y="1170432"/>
            <a:ext cx="502920" cy="256032"/>
          </a:xfrm>
          <a:prstGeom prst="rect">
            <a:avLst/>
          </a:prstGeom>
          <a:noFill/>
          <a:ln/>
        </p:spPr>
        <p:txBody>
          <a:bodyPr wrap="square" lIns="0" tIns="0" rIns="0" bIns="0" rtlCol="0" anchor="ctr"/>
          <a:lstStyle/>
          <a:p>
            <a:pPr marL="0" indent="0" algn="ctr">
              <a:buNone/>
            </a:pPr>
            <a:r>
              <a:rPr lang="en-US" sz="750" b="1" dirty="0">
                <a:solidFill>
                  <a:srgbClr val="FFFFFF"/>
                </a:solidFill>
              </a:rPr>
              <a:t>285K</a:t>
            </a:r>
            <a:endParaRPr lang="en-US" sz="750" dirty="0"/>
          </a:p>
        </p:txBody>
      </p:sp>
      <p:sp>
        <p:nvSpPr>
          <p:cNvPr id="12" name="Text 9"/>
          <p:cNvSpPr/>
          <p:nvPr/>
        </p:nvSpPr>
        <p:spPr>
          <a:xfrm>
            <a:off x="6400800" y="1170432"/>
            <a:ext cx="2377440" cy="256032"/>
          </a:xfrm>
          <a:prstGeom prst="rect">
            <a:avLst/>
          </a:prstGeom>
          <a:noFill/>
          <a:ln/>
        </p:spPr>
        <p:txBody>
          <a:bodyPr wrap="square" rtlCol="0" anchor="ctr"/>
          <a:lstStyle/>
          <a:p>
            <a:pPr marL="0" indent="0">
              <a:buNone/>
            </a:pPr>
            <a:r>
              <a:rPr lang="en-US" sz="850" dirty="0">
                <a:solidFill>
                  <a:srgbClr val="5C6B6B"/>
                </a:solidFill>
              </a:rPr>
              <a:t>Total Transactions — Nombre total de transactions analysées</a:t>
            </a:r>
            <a:endParaRPr lang="en-US" sz="850" dirty="0"/>
          </a:p>
        </p:txBody>
      </p:sp>
      <p:sp>
        <p:nvSpPr>
          <p:cNvPr id="13" name="Shape 10"/>
          <p:cNvSpPr/>
          <p:nvPr/>
        </p:nvSpPr>
        <p:spPr>
          <a:xfrm>
            <a:off x="5806440" y="1481328"/>
            <a:ext cx="502920" cy="256032"/>
          </a:xfrm>
          <a:prstGeom prst="rect">
            <a:avLst/>
          </a:prstGeom>
          <a:solidFill>
            <a:srgbClr val="B85C38"/>
          </a:solidFill>
          <a:ln w="12700">
            <a:solidFill>
              <a:srgbClr val="B85C38"/>
            </a:solidFill>
            <a:prstDash val="solid"/>
          </a:ln>
        </p:spPr>
      </p:sp>
      <p:sp>
        <p:nvSpPr>
          <p:cNvPr id="14" name="Text 11"/>
          <p:cNvSpPr/>
          <p:nvPr/>
        </p:nvSpPr>
        <p:spPr>
          <a:xfrm>
            <a:off x="5806440" y="1481328"/>
            <a:ext cx="502920" cy="256032"/>
          </a:xfrm>
          <a:prstGeom prst="rect">
            <a:avLst/>
          </a:prstGeom>
          <a:noFill/>
          <a:ln/>
        </p:spPr>
        <p:txBody>
          <a:bodyPr wrap="square" lIns="0" tIns="0" rIns="0" bIns="0" rtlCol="0" anchor="ctr"/>
          <a:lstStyle/>
          <a:p>
            <a:pPr marL="0" indent="0" algn="ctr">
              <a:buNone/>
            </a:pPr>
            <a:r>
              <a:rPr lang="en-US" sz="750" b="1" dirty="0">
                <a:solidFill>
                  <a:srgbClr val="FFFFFF"/>
                </a:solidFill>
              </a:rPr>
              <a:t>492</a:t>
            </a:r>
            <a:endParaRPr lang="en-US" sz="750" dirty="0"/>
          </a:p>
        </p:txBody>
      </p:sp>
      <p:sp>
        <p:nvSpPr>
          <p:cNvPr id="15" name="Text 12"/>
          <p:cNvSpPr/>
          <p:nvPr/>
        </p:nvSpPr>
        <p:spPr>
          <a:xfrm>
            <a:off x="6400800" y="1481328"/>
            <a:ext cx="2377440" cy="256032"/>
          </a:xfrm>
          <a:prstGeom prst="rect">
            <a:avLst/>
          </a:prstGeom>
          <a:noFill/>
          <a:ln/>
        </p:spPr>
        <p:txBody>
          <a:bodyPr wrap="square" rtlCol="0" anchor="ctr"/>
          <a:lstStyle/>
          <a:p>
            <a:pPr marL="0" indent="0">
              <a:buNone/>
            </a:pPr>
            <a:r>
              <a:rPr lang="en-US" sz="850" dirty="0">
                <a:solidFill>
                  <a:srgbClr val="5C6B6B"/>
                </a:solidFill>
              </a:rPr>
              <a:t>Total Frauds — Fraudes réelles identifiées dans les données</a:t>
            </a:r>
            <a:endParaRPr lang="en-US" sz="850" dirty="0"/>
          </a:p>
        </p:txBody>
      </p:sp>
      <p:sp>
        <p:nvSpPr>
          <p:cNvPr id="16" name="Shape 13"/>
          <p:cNvSpPr/>
          <p:nvPr/>
        </p:nvSpPr>
        <p:spPr>
          <a:xfrm>
            <a:off x="5806440" y="1792224"/>
            <a:ext cx="502920" cy="256032"/>
          </a:xfrm>
          <a:prstGeom prst="rect">
            <a:avLst/>
          </a:prstGeom>
          <a:solidFill>
            <a:srgbClr val="B85C38"/>
          </a:solidFill>
          <a:ln w="12700">
            <a:solidFill>
              <a:srgbClr val="B85C38"/>
            </a:solidFill>
            <a:prstDash val="solid"/>
          </a:ln>
        </p:spPr>
      </p:sp>
      <p:sp>
        <p:nvSpPr>
          <p:cNvPr id="17" name="Text 14"/>
          <p:cNvSpPr/>
          <p:nvPr/>
        </p:nvSpPr>
        <p:spPr>
          <a:xfrm>
            <a:off x="5806440" y="1792224"/>
            <a:ext cx="502920" cy="256032"/>
          </a:xfrm>
          <a:prstGeom prst="rect">
            <a:avLst/>
          </a:prstGeom>
          <a:noFill/>
          <a:ln/>
        </p:spPr>
        <p:txBody>
          <a:bodyPr wrap="square" lIns="0" tIns="0" rIns="0" bIns="0" rtlCol="0" anchor="ctr"/>
          <a:lstStyle/>
          <a:p>
            <a:pPr marL="0" indent="0" algn="ctr">
              <a:buNone/>
            </a:pPr>
            <a:r>
              <a:rPr lang="en-US" sz="750" b="1" dirty="0">
                <a:solidFill>
                  <a:srgbClr val="FFFFFF"/>
                </a:solidFill>
              </a:rPr>
              <a:t>0,002</a:t>
            </a:r>
            <a:endParaRPr lang="en-US" sz="750" dirty="0"/>
          </a:p>
        </p:txBody>
      </p:sp>
      <p:sp>
        <p:nvSpPr>
          <p:cNvPr id="18" name="Text 15"/>
          <p:cNvSpPr/>
          <p:nvPr/>
        </p:nvSpPr>
        <p:spPr>
          <a:xfrm>
            <a:off x="6400800" y="1792224"/>
            <a:ext cx="2377440" cy="256032"/>
          </a:xfrm>
          <a:prstGeom prst="rect">
            <a:avLst/>
          </a:prstGeom>
          <a:noFill/>
          <a:ln/>
        </p:spPr>
        <p:txBody>
          <a:bodyPr wrap="square" rtlCol="0" anchor="ctr"/>
          <a:lstStyle/>
          <a:p>
            <a:pPr marL="0" indent="0">
              <a:buNone/>
            </a:pPr>
            <a:r>
              <a:rPr lang="en-US" sz="850" dirty="0">
                <a:solidFill>
                  <a:srgbClr val="5C6B6B"/>
                </a:solidFill>
              </a:rPr>
              <a:t>High Risk % — Part des transactions classées à risque élevé</a:t>
            </a:r>
            <a:endParaRPr lang="en-US" sz="850" dirty="0"/>
          </a:p>
        </p:txBody>
      </p:sp>
      <p:sp>
        <p:nvSpPr>
          <p:cNvPr id="19" name="Shape 16"/>
          <p:cNvSpPr/>
          <p:nvPr/>
        </p:nvSpPr>
        <p:spPr>
          <a:xfrm>
            <a:off x="5806440" y="2103120"/>
            <a:ext cx="502920" cy="256032"/>
          </a:xfrm>
          <a:prstGeom prst="rect">
            <a:avLst/>
          </a:prstGeom>
          <a:solidFill>
            <a:srgbClr val="B85C38"/>
          </a:solidFill>
          <a:ln w="12700">
            <a:solidFill>
              <a:srgbClr val="B85C38"/>
            </a:solidFill>
            <a:prstDash val="solid"/>
          </a:ln>
        </p:spPr>
      </p:sp>
      <p:sp>
        <p:nvSpPr>
          <p:cNvPr id="20" name="Text 17"/>
          <p:cNvSpPr/>
          <p:nvPr/>
        </p:nvSpPr>
        <p:spPr>
          <a:xfrm>
            <a:off x="5806440" y="2103120"/>
            <a:ext cx="502920" cy="256032"/>
          </a:xfrm>
          <a:prstGeom prst="rect">
            <a:avLst/>
          </a:prstGeom>
          <a:noFill/>
          <a:ln/>
        </p:spPr>
        <p:txBody>
          <a:bodyPr wrap="square" lIns="0" tIns="0" rIns="0" bIns="0" rtlCol="0" anchor="ctr"/>
          <a:lstStyle/>
          <a:p>
            <a:pPr marL="0" indent="0" algn="ctr">
              <a:buNone/>
            </a:pPr>
            <a:r>
              <a:rPr lang="en-US" sz="750" b="1" dirty="0">
                <a:solidFill>
                  <a:srgbClr val="FFFFFF"/>
                </a:solidFill>
              </a:rPr>
              <a:t>60,13K</a:t>
            </a:r>
            <a:endParaRPr lang="en-US" sz="750" dirty="0"/>
          </a:p>
        </p:txBody>
      </p:sp>
      <p:sp>
        <p:nvSpPr>
          <p:cNvPr id="21" name="Text 18"/>
          <p:cNvSpPr/>
          <p:nvPr/>
        </p:nvSpPr>
        <p:spPr>
          <a:xfrm>
            <a:off x="6400800" y="2103120"/>
            <a:ext cx="2377440" cy="256032"/>
          </a:xfrm>
          <a:prstGeom prst="rect">
            <a:avLst/>
          </a:prstGeom>
          <a:noFill/>
          <a:ln/>
        </p:spPr>
        <p:txBody>
          <a:bodyPr wrap="square" rtlCol="0" anchor="ctr"/>
          <a:lstStyle/>
          <a:p>
            <a:pPr marL="0" indent="0">
              <a:buNone/>
            </a:pPr>
            <a:r>
              <a:rPr lang="en-US" sz="850" dirty="0">
                <a:solidFill>
                  <a:srgbClr val="5C6B6B"/>
                </a:solidFill>
              </a:rPr>
              <a:t>Fraud Amount — Montant total des transactions frauduleuses</a:t>
            </a:r>
            <a:endParaRPr lang="en-US" sz="850" dirty="0"/>
          </a:p>
        </p:txBody>
      </p:sp>
      <p:sp>
        <p:nvSpPr>
          <p:cNvPr id="22" name="Shape 19"/>
          <p:cNvSpPr/>
          <p:nvPr/>
        </p:nvSpPr>
        <p:spPr>
          <a:xfrm>
            <a:off x="5806440" y="2414016"/>
            <a:ext cx="502920" cy="256032"/>
          </a:xfrm>
          <a:prstGeom prst="rect">
            <a:avLst/>
          </a:prstGeom>
          <a:solidFill>
            <a:srgbClr val="B85C38"/>
          </a:solidFill>
          <a:ln w="12700">
            <a:solidFill>
              <a:srgbClr val="B85C38"/>
            </a:solidFill>
            <a:prstDash val="solid"/>
          </a:ln>
        </p:spPr>
      </p:sp>
      <p:sp>
        <p:nvSpPr>
          <p:cNvPr id="23" name="Text 20"/>
          <p:cNvSpPr/>
          <p:nvPr/>
        </p:nvSpPr>
        <p:spPr>
          <a:xfrm>
            <a:off x="5806440" y="2414016"/>
            <a:ext cx="502920" cy="256032"/>
          </a:xfrm>
          <a:prstGeom prst="rect">
            <a:avLst/>
          </a:prstGeom>
          <a:noFill/>
          <a:ln/>
        </p:spPr>
        <p:txBody>
          <a:bodyPr wrap="square" lIns="0" tIns="0" rIns="0" bIns="0" rtlCol="0" anchor="ctr"/>
          <a:lstStyle/>
          <a:p>
            <a:pPr marL="0" indent="0" algn="ctr">
              <a:buNone/>
            </a:pPr>
            <a:r>
              <a:rPr lang="en-US" sz="750" b="1" dirty="0">
                <a:solidFill>
                  <a:srgbClr val="FFFFFF"/>
                </a:solidFill>
              </a:rPr>
              <a:t>58,29K</a:t>
            </a:r>
            <a:endParaRPr lang="en-US" sz="750" dirty="0"/>
          </a:p>
        </p:txBody>
      </p:sp>
      <p:sp>
        <p:nvSpPr>
          <p:cNvPr id="24" name="Text 21"/>
          <p:cNvSpPr/>
          <p:nvPr/>
        </p:nvSpPr>
        <p:spPr>
          <a:xfrm>
            <a:off x="6400800" y="2414016"/>
            <a:ext cx="2377440" cy="256032"/>
          </a:xfrm>
          <a:prstGeom prst="rect">
            <a:avLst/>
          </a:prstGeom>
          <a:noFill/>
          <a:ln/>
        </p:spPr>
        <p:txBody>
          <a:bodyPr wrap="square" rtlCol="0" anchor="ctr"/>
          <a:lstStyle/>
          <a:p>
            <a:pPr marL="0" indent="0">
              <a:buNone/>
            </a:pPr>
            <a:r>
              <a:rPr lang="en-US" sz="850" dirty="0">
                <a:solidFill>
                  <a:srgbClr val="5C6B6B"/>
                </a:solidFill>
              </a:rPr>
              <a:t>Detected Fraud Amount — Montant des fraudes effectivement détectées</a:t>
            </a:r>
            <a:endParaRPr lang="en-US" sz="850" dirty="0"/>
          </a:p>
        </p:txBody>
      </p:sp>
      <p:sp>
        <p:nvSpPr>
          <p:cNvPr id="25" name="Shape 22"/>
          <p:cNvSpPr/>
          <p:nvPr/>
        </p:nvSpPr>
        <p:spPr>
          <a:xfrm>
            <a:off x="5806440" y="2724912"/>
            <a:ext cx="502920" cy="256032"/>
          </a:xfrm>
          <a:prstGeom prst="rect">
            <a:avLst/>
          </a:prstGeom>
          <a:solidFill>
            <a:srgbClr val="B85C38"/>
          </a:solidFill>
          <a:ln w="12700">
            <a:solidFill>
              <a:srgbClr val="B85C38"/>
            </a:solidFill>
            <a:prstDash val="solid"/>
          </a:ln>
        </p:spPr>
      </p:sp>
      <p:sp>
        <p:nvSpPr>
          <p:cNvPr id="26" name="Text 23"/>
          <p:cNvSpPr/>
          <p:nvPr/>
        </p:nvSpPr>
        <p:spPr>
          <a:xfrm>
            <a:off x="5806440" y="2724912"/>
            <a:ext cx="502920" cy="256032"/>
          </a:xfrm>
          <a:prstGeom prst="rect">
            <a:avLst/>
          </a:prstGeom>
          <a:noFill/>
          <a:ln/>
        </p:spPr>
        <p:txBody>
          <a:bodyPr wrap="square" lIns="0" tIns="0" rIns="0" bIns="0" rtlCol="0" anchor="ctr"/>
          <a:lstStyle/>
          <a:p>
            <a:pPr marL="0" indent="0" algn="ctr">
              <a:buNone/>
            </a:pPr>
            <a:r>
              <a:rPr lang="en-US" sz="750" b="1" dirty="0">
                <a:solidFill>
                  <a:srgbClr val="FFFFFF"/>
                </a:solidFill>
              </a:rPr>
              <a:t>613</a:t>
            </a:r>
            <a:endParaRPr lang="en-US" sz="750" dirty="0"/>
          </a:p>
        </p:txBody>
      </p:sp>
      <p:sp>
        <p:nvSpPr>
          <p:cNvPr id="27" name="Text 24"/>
          <p:cNvSpPr/>
          <p:nvPr/>
        </p:nvSpPr>
        <p:spPr>
          <a:xfrm>
            <a:off x="6400800" y="2724912"/>
            <a:ext cx="2377440" cy="256032"/>
          </a:xfrm>
          <a:prstGeom prst="rect">
            <a:avLst/>
          </a:prstGeom>
          <a:noFill/>
          <a:ln/>
        </p:spPr>
        <p:txBody>
          <a:bodyPr wrap="square" rtlCol="0" anchor="ctr"/>
          <a:lstStyle/>
          <a:p>
            <a:pPr marL="0" indent="0">
              <a:buNone/>
            </a:pPr>
            <a:r>
              <a:rPr lang="en-US" sz="850" dirty="0">
                <a:solidFill>
                  <a:srgbClr val="5C6B6B"/>
                </a:solidFill>
              </a:rPr>
              <a:t>Detected Frauds — Nombre de fraudes détectées par le modèle</a:t>
            </a:r>
            <a:endParaRPr lang="en-US" sz="850" dirty="0"/>
          </a:p>
        </p:txBody>
      </p:sp>
      <p:sp>
        <p:nvSpPr>
          <p:cNvPr id="28" name="Shape 25"/>
          <p:cNvSpPr/>
          <p:nvPr/>
        </p:nvSpPr>
        <p:spPr>
          <a:xfrm>
            <a:off x="274320" y="3904488"/>
            <a:ext cx="4206240" cy="475488"/>
          </a:xfrm>
          <a:prstGeom prst="rect">
            <a:avLst/>
          </a:prstGeom>
          <a:solidFill>
            <a:srgbClr val="F2E0D8"/>
          </a:solidFill>
          <a:ln w="12700">
            <a:solidFill>
              <a:srgbClr val="E2D9CF"/>
            </a:solidFill>
            <a:prstDash val="solid"/>
          </a:ln>
        </p:spPr>
      </p:sp>
      <p:sp>
        <p:nvSpPr>
          <p:cNvPr id="29" name="Shape 26"/>
          <p:cNvSpPr/>
          <p:nvPr/>
        </p:nvSpPr>
        <p:spPr>
          <a:xfrm>
            <a:off x="274320" y="3904488"/>
            <a:ext cx="45720" cy="475488"/>
          </a:xfrm>
          <a:prstGeom prst="rect">
            <a:avLst/>
          </a:prstGeom>
          <a:solidFill>
            <a:srgbClr val="B85C38"/>
          </a:solidFill>
          <a:ln w="12700">
            <a:solidFill>
              <a:srgbClr val="B85C38"/>
            </a:solidFill>
            <a:prstDash val="solid"/>
          </a:ln>
        </p:spPr>
      </p:sp>
      <p:sp>
        <p:nvSpPr>
          <p:cNvPr id="30" name="Text 27"/>
          <p:cNvSpPr/>
          <p:nvPr/>
        </p:nvSpPr>
        <p:spPr>
          <a:xfrm>
            <a:off x="411480" y="3904488"/>
            <a:ext cx="3977640" cy="475488"/>
          </a:xfrm>
          <a:prstGeom prst="rect">
            <a:avLst/>
          </a:prstGeom>
          <a:noFill/>
          <a:ln/>
        </p:spPr>
        <p:txBody>
          <a:bodyPr wrap="square" rtlCol="0" anchor="ctr"/>
          <a:lstStyle/>
          <a:p>
            <a:pPr marL="0" indent="0">
              <a:buNone/>
            </a:pPr>
            <a:r>
              <a:rPr lang="en-US" sz="850" dirty="0">
                <a:solidFill>
                  <a:srgbClr val="1C2B2B"/>
                </a:solidFill>
                <a:latin typeface="Calibri" pitchFamily="34" charset="0"/>
                <a:ea typeface="Calibri" pitchFamily="34" charset="-122"/>
                <a:cs typeface="Calibri" pitchFamily="34" charset="-120"/>
              </a:rPr>
              <a:t>Fraud Rate by Amount Category — Taux de fraude selon le montant — les fraudes High ont le taux le plus élevé (0.003), mais elles existent aussi sur de petits montants.</a:t>
            </a:r>
            <a:endParaRPr lang="en-US" sz="850" dirty="0"/>
          </a:p>
        </p:txBody>
      </p:sp>
      <p:sp>
        <p:nvSpPr>
          <p:cNvPr id="31" name="Shape 28"/>
          <p:cNvSpPr/>
          <p:nvPr/>
        </p:nvSpPr>
        <p:spPr>
          <a:xfrm>
            <a:off x="4709160" y="3904488"/>
            <a:ext cx="4206240" cy="475488"/>
          </a:xfrm>
          <a:prstGeom prst="rect">
            <a:avLst/>
          </a:prstGeom>
          <a:solidFill>
            <a:srgbClr val="DFF0EB"/>
          </a:solidFill>
          <a:ln w="12700">
            <a:solidFill>
              <a:srgbClr val="E2D9CF"/>
            </a:solidFill>
            <a:prstDash val="solid"/>
          </a:ln>
        </p:spPr>
      </p:sp>
      <p:sp>
        <p:nvSpPr>
          <p:cNvPr id="32" name="Shape 29"/>
          <p:cNvSpPr/>
          <p:nvPr/>
        </p:nvSpPr>
        <p:spPr>
          <a:xfrm>
            <a:off x="4709160" y="3904488"/>
            <a:ext cx="45720" cy="475488"/>
          </a:xfrm>
          <a:prstGeom prst="rect">
            <a:avLst/>
          </a:prstGeom>
          <a:solidFill>
            <a:srgbClr val="4A7068"/>
          </a:solidFill>
          <a:ln w="12700">
            <a:solidFill>
              <a:srgbClr val="4A7068"/>
            </a:solidFill>
            <a:prstDash val="solid"/>
          </a:ln>
        </p:spPr>
      </p:sp>
      <p:sp>
        <p:nvSpPr>
          <p:cNvPr id="33" name="Text 30"/>
          <p:cNvSpPr/>
          <p:nvPr/>
        </p:nvSpPr>
        <p:spPr>
          <a:xfrm>
            <a:off x="4846320" y="3904488"/>
            <a:ext cx="3977640" cy="475488"/>
          </a:xfrm>
          <a:prstGeom prst="rect">
            <a:avLst/>
          </a:prstGeom>
          <a:noFill/>
          <a:ln/>
        </p:spPr>
        <p:txBody>
          <a:bodyPr wrap="square" rtlCol="0" anchor="ctr"/>
          <a:lstStyle/>
          <a:p>
            <a:pPr marL="0" indent="0">
              <a:buNone/>
            </a:pPr>
            <a:r>
              <a:rPr lang="en-US" sz="850" dirty="0">
                <a:solidFill>
                  <a:srgbClr val="1C2B2B"/>
                </a:solidFill>
                <a:latin typeface="Calibri" pitchFamily="34" charset="0"/>
                <a:ea typeface="Calibri" pitchFamily="34" charset="-122"/>
                <a:cs typeface="Calibri" pitchFamily="34" charset="-120"/>
              </a:rPr>
              <a:t>Fraud Count by Risk Level — 476 transactions sont classées High Risk par le modèle, contre 11 Very Low et 3 Medium — confirme que XGBoost concentre bien les alertes sur les cas à risque.</a:t>
            </a:r>
            <a:endParaRPr lang="en-US" sz="850" dirty="0"/>
          </a:p>
        </p:txBody>
      </p:sp>
      <p:sp>
        <p:nvSpPr>
          <p:cNvPr id="34" name="Shape 31"/>
          <p:cNvSpPr/>
          <p:nvPr/>
        </p:nvSpPr>
        <p:spPr>
          <a:xfrm>
            <a:off x="274320" y="4453128"/>
            <a:ext cx="4206240" cy="475488"/>
          </a:xfrm>
          <a:prstGeom prst="rect">
            <a:avLst/>
          </a:prstGeom>
          <a:solidFill>
            <a:srgbClr val="F2E0D8"/>
          </a:solidFill>
          <a:ln w="12700">
            <a:solidFill>
              <a:srgbClr val="E2D9CF"/>
            </a:solidFill>
            <a:prstDash val="solid"/>
          </a:ln>
        </p:spPr>
      </p:sp>
      <p:sp>
        <p:nvSpPr>
          <p:cNvPr id="35" name="Shape 32"/>
          <p:cNvSpPr/>
          <p:nvPr/>
        </p:nvSpPr>
        <p:spPr>
          <a:xfrm>
            <a:off x="274320" y="4453128"/>
            <a:ext cx="45720" cy="475488"/>
          </a:xfrm>
          <a:prstGeom prst="rect">
            <a:avLst/>
          </a:prstGeom>
          <a:solidFill>
            <a:srgbClr val="B85C38"/>
          </a:solidFill>
          <a:ln w="12700">
            <a:solidFill>
              <a:srgbClr val="B85C38"/>
            </a:solidFill>
            <a:prstDash val="solid"/>
          </a:ln>
        </p:spPr>
      </p:sp>
      <p:sp>
        <p:nvSpPr>
          <p:cNvPr id="36" name="Text 33"/>
          <p:cNvSpPr/>
          <p:nvPr/>
        </p:nvSpPr>
        <p:spPr>
          <a:xfrm>
            <a:off x="411480" y="4453128"/>
            <a:ext cx="3977640" cy="475488"/>
          </a:xfrm>
          <a:prstGeom prst="rect">
            <a:avLst/>
          </a:prstGeom>
          <a:noFill/>
          <a:ln/>
        </p:spPr>
        <p:txBody>
          <a:bodyPr wrap="square" rtlCol="0" anchor="ctr"/>
          <a:lstStyle/>
          <a:p>
            <a:pPr marL="0" indent="0">
              <a:buNone/>
            </a:pPr>
            <a:r>
              <a:rPr lang="en-US" sz="850" dirty="0">
                <a:solidFill>
                  <a:srgbClr val="1C2B2B"/>
                </a:solidFill>
                <a:latin typeface="Calibri" pitchFamily="34" charset="0"/>
                <a:ea typeface="Calibri" pitchFamily="34" charset="-122"/>
                <a:cs typeface="Calibri" pitchFamily="34" charset="-120"/>
              </a:rPr>
              <a:t>Fraud Probability vs Amount — Chaque point est une transaction. On voit que les fraudes (rouge) se mélangent aux normales sur les petits montants — le montant seul ne suffit pas.</a:t>
            </a:r>
            <a:endParaRPr lang="en-US" sz="850" dirty="0"/>
          </a:p>
        </p:txBody>
      </p:sp>
      <p:sp>
        <p:nvSpPr>
          <p:cNvPr id="37" name="Shape 34"/>
          <p:cNvSpPr/>
          <p:nvPr/>
        </p:nvSpPr>
        <p:spPr>
          <a:xfrm>
            <a:off x="4709160" y="4453128"/>
            <a:ext cx="4206240" cy="475488"/>
          </a:xfrm>
          <a:prstGeom prst="rect">
            <a:avLst/>
          </a:prstGeom>
          <a:solidFill>
            <a:srgbClr val="DFF0EB"/>
          </a:solidFill>
          <a:ln w="12700">
            <a:solidFill>
              <a:srgbClr val="E2D9CF"/>
            </a:solidFill>
            <a:prstDash val="solid"/>
          </a:ln>
        </p:spPr>
      </p:sp>
      <p:sp>
        <p:nvSpPr>
          <p:cNvPr id="38" name="Shape 35"/>
          <p:cNvSpPr/>
          <p:nvPr/>
        </p:nvSpPr>
        <p:spPr>
          <a:xfrm>
            <a:off x="4709160" y="4453128"/>
            <a:ext cx="45720" cy="475488"/>
          </a:xfrm>
          <a:prstGeom prst="rect">
            <a:avLst/>
          </a:prstGeom>
          <a:solidFill>
            <a:srgbClr val="4A7068"/>
          </a:solidFill>
          <a:ln w="12700">
            <a:solidFill>
              <a:srgbClr val="4A7068"/>
            </a:solidFill>
            <a:prstDash val="solid"/>
          </a:ln>
        </p:spPr>
      </p:sp>
      <p:sp>
        <p:nvSpPr>
          <p:cNvPr id="39" name="Text 36"/>
          <p:cNvSpPr/>
          <p:nvPr/>
        </p:nvSpPr>
        <p:spPr>
          <a:xfrm>
            <a:off x="4846320" y="4453128"/>
            <a:ext cx="3977640" cy="475488"/>
          </a:xfrm>
          <a:prstGeom prst="rect">
            <a:avLst/>
          </a:prstGeom>
          <a:noFill/>
          <a:ln/>
        </p:spPr>
        <p:txBody>
          <a:bodyPr wrap="square" rtlCol="0" anchor="ctr"/>
          <a:lstStyle/>
          <a:p>
            <a:pPr marL="0" indent="0">
              <a:buNone/>
            </a:pPr>
            <a:r>
              <a:rPr lang="en-US" sz="850" dirty="0">
                <a:solidFill>
                  <a:srgbClr val="1C2B2B"/>
                </a:solidFill>
                <a:latin typeface="Calibri" pitchFamily="34" charset="0"/>
                <a:ea typeface="Calibri" pitchFamily="34" charset="-122"/>
                <a:cs typeface="Calibri" pitchFamily="34" charset="-120"/>
              </a:rPr>
              <a:t>Fraud vs Legitimate (donut) — 97,36 % des transactions sont normales, 2,64 % sont signalées comme fraudes par le modèle — ce ratio inclut les faux positifs intentionnels (seuil 0.3).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2B2B"/>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B85C38"/>
          </a:solidFill>
          <a:ln w="12700">
            <a:solidFill>
              <a:srgbClr val="B85C38"/>
            </a:solidFill>
            <a:prstDash val="solid"/>
          </a:ln>
        </p:spPr>
      </p:sp>
      <p:sp>
        <p:nvSpPr>
          <p:cNvPr id="3" name="Text 1"/>
          <p:cNvSpPr/>
          <p:nvPr/>
        </p:nvSpPr>
        <p:spPr>
          <a:xfrm>
            <a:off x="457200" y="274320"/>
            <a:ext cx="8046720" cy="59436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Ce que ce projet m'a apporté</a:t>
            </a:r>
            <a:endParaRPr lang="en-US" sz="2600" dirty="0"/>
          </a:p>
        </p:txBody>
      </p:sp>
      <p:sp>
        <p:nvSpPr>
          <p:cNvPr id="4" name="Shape 2"/>
          <p:cNvSpPr/>
          <p:nvPr/>
        </p:nvSpPr>
        <p:spPr>
          <a:xfrm>
            <a:off x="457200" y="960120"/>
            <a:ext cx="6858000" cy="0"/>
          </a:xfrm>
          <a:prstGeom prst="line">
            <a:avLst/>
          </a:prstGeom>
          <a:noFill/>
          <a:ln w="12700">
            <a:solidFill>
              <a:srgbClr val="3A5555"/>
            </a:solidFill>
            <a:prstDash val="solid"/>
          </a:ln>
        </p:spPr>
      </p:sp>
      <p:sp>
        <p:nvSpPr>
          <p:cNvPr id="5" name="Shape 3"/>
          <p:cNvSpPr/>
          <p:nvPr/>
        </p:nvSpPr>
        <p:spPr>
          <a:xfrm>
            <a:off x="457200" y="1097280"/>
            <a:ext cx="4114800" cy="1783080"/>
          </a:xfrm>
          <a:prstGeom prst="rect">
            <a:avLst/>
          </a:prstGeom>
          <a:solidFill>
            <a:srgbClr val="2A3B3B"/>
          </a:solidFill>
          <a:ln w="12700">
            <a:solidFill>
              <a:srgbClr val="3A5555"/>
            </a:solidFill>
            <a:prstDash val="solid"/>
          </a:ln>
        </p:spPr>
      </p:sp>
      <p:sp>
        <p:nvSpPr>
          <p:cNvPr id="6" name="Shape 4"/>
          <p:cNvSpPr/>
          <p:nvPr/>
        </p:nvSpPr>
        <p:spPr>
          <a:xfrm>
            <a:off x="457200" y="1097280"/>
            <a:ext cx="530352" cy="1783080"/>
          </a:xfrm>
          <a:prstGeom prst="rect">
            <a:avLst/>
          </a:prstGeom>
          <a:solidFill>
            <a:srgbClr val="B85C38"/>
          </a:solidFill>
          <a:ln w="12700">
            <a:solidFill>
              <a:srgbClr val="B85C38"/>
            </a:solidFill>
            <a:prstDash val="solid"/>
          </a:ln>
        </p:spPr>
      </p:sp>
      <p:sp>
        <p:nvSpPr>
          <p:cNvPr id="7" name="Text 5"/>
          <p:cNvSpPr/>
          <p:nvPr/>
        </p:nvSpPr>
        <p:spPr>
          <a:xfrm>
            <a:off x="457200" y="1097280"/>
            <a:ext cx="530352" cy="1783080"/>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8" name="Text 6"/>
          <p:cNvSpPr/>
          <p:nvPr/>
        </p:nvSpPr>
        <p:spPr>
          <a:xfrm>
            <a:off x="1097280" y="1207008"/>
            <a:ext cx="3337560" cy="320040"/>
          </a:xfrm>
          <a:prstGeom prst="rect">
            <a:avLst/>
          </a:prstGeom>
          <a:noFill/>
          <a:ln/>
        </p:spPr>
        <p:txBody>
          <a:bodyPr wrap="square" rtlCol="0" anchor="ctr"/>
          <a:lstStyle/>
          <a:p>
            <a:pPr marL="0" indent="0">
              <a:buNone/>
            </a:pPr>
            <a:r>
              <a:rPr lang="en-US" sz="1100" b="1" dirty="0">
                <a:solidFill>
                  <a:srgbClr val="FFFFFF"/>
                </a:solidFill>
              </a:rPr>
              <a:t>Une approche end-to-end complète</a:t>
            </a:r>
            <a:endParaRPr lang="en-US" sz="1100" dirty="0"/>
          </a:p>
        </p:txBody>
      </p:sp>
      <p:sp>
        <p:nvSpPr>
          <p:cNvPr id="9" name="Text 7"/>
          <p:cNvSpPr/>
          <p:nvPr/>
        </p:nvSpPr>
        <p:spPr>
          <a:xfrm>
            <a:off x="1097280" y="1572768"/>
            <a:ext cx="3337560" cy="1188720"/>
          </a:xfrm>
          <a:prstGeom prst="rect">
            <a:avLst/>
          </a:prstGeom>
          <a:noFill/>
          <a:ln/>
        </p:spPr>
        <p:txBody>
          <a:bodyPr wrap="square" rtlCol="0" anchor="ctr"/>
          <a:lstStyle/>
          <a:p>
            <a:pPr marL="0" indent="0">
              <a:buNone/>
            </a:pPr>
            <a:r>
              <a:rPr lang="en-US" sz="1000" dirty="0">
                <a:solidFill>
                  <a:srgbClr val="D4C9BC"/>
                </a:solidFill>
                <a:latin typeface="Calibri" pitchFamily="34" charset="0"/>
                <a:ea typeface="Calibri" pitchFamily="34" charset="-122"/>
                <a:cs typeface="Calibri" pitchFamily="34" charset="-120"/>
              </a:rPr>
              <a:t>J'ai couvert tout le pipeline data : exploration, preprocessing, modélisation, explicabilité et restitution BI. C'est le projet qui m'a le plus appris sur la rigueur nécessaire en ML.</a:t>
            </a:r>
            <a:endParaRPr lang="en-US" sz="1000" dirty="0"/>
          </a:p>
        </p:txBody>
      </p:sp>
      <p:sp>
        <p:nvSpPr>
          <p:cNvPr id="10" name="Shape 8"/>
          <p:cNvSpPr/>
          <p:nvPr/>
        </p:nvSpPr>
        <p:spPr>
          <a:xfrm>
            <a:off x="4800600" y="1097280"/>
            <a:ext cx="4114800" cy="1783080"/>
          </a:xfrm>
          <a:prstGeom prst="rect">
            <a:avLst/>
          </a:prstGeom>
          <a:solidFill>
            <a:srgbClr val="2A3B3B"/>
          </a:solidFill>
          <a:ln w="12700">
            <a:solidFill>
              <a:srgbClr val="3A5555"/>
            </a:solidFill>
            <a:prstDash val="solid"/>
          </a:ln>
        </p:spPr>
      </p:sp>
      <p:sp>
        <p:nvSpPr>
          <p:cNvPr id="11" name="Shape 9"/>
          <p:cNvSpPr/>
          <p:nvPr/>
        </p:nvSpPr>
        <p:spPr>
          <a:xfrm>
            <a:off x="4800600" y="1097280"/>
            <a:ext cx="530352" cy="1783080"/>
          </a:xfrm>
          <a:prstGeom prst="rect">
            <a:avLst/>
          </a:prstGeom>
          <a:solidFill>
            <a:srgbClr val="4A7068"/>
          </a:solidFill>
          <a:ln w="12700">
            <a:solidFill>
              <a:srgbClr val="4A7068"/>
            </a:solidFill>
            <a:prstDash val="solid"/>
          </a:ln>
        </p:spPr>
      </p:sp>
      <p:sp>
        <p:nvSpPr>
          <p:cNvPr id="12" name="Text 10"/>
          <p:cNvSpPr/>
          <p:nvPr/>
        </p:nvSpPr>
        <p:spPr>
          <a:xfrm>
            <a:off x="4800600" y="1097280"/>
            <a:ext cx="530352" cy="1783080"/>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3" name="Text 11"/>
          <p:cNvSpPr/>
          <p:nvPr/>
        </p:nvSpPr>
        <p:spPr>
          <a:xfrm>
            <a:off x="5440680" y="1207008"/>
            <a:ext cx="3337560" cy="320040"/>
          </a:xfrm>
          <a:prstGeom prst="rect">
            <a:avLst/>
          </a:prstGeom>
          <a:noFill/>
          <a:ln/>
        </p:spPr>
        <p:txBody>
          <a:bodyPr wrap="square" rtlCol="0" anchor="ctr"/>
          <a:lstStyle/>
          <a:p>
            <a:pPr marL="0" indent="0">
              <a:buNone/>
            </a:pPr>
            <a:r>
              <a:rPr lang="en-US" sz="1100" b="1" dirty="0">
                <a:solidFill>
                  <a:srgbClr val="FFFFFF"/>
                </a:solidFill>
              </a:rPr>
              <a:t>XGBoost comme modèle de production</a:t>
            </a:r>
            <a:endParaRPr lang="en-US" sz="1100" dirty="0"/>
          </a:p>
        </p:txBody>
      </p:sp>
      <p:sp>
        <p:nvSpPr>
          <p:cNvPr id="14" name="Text 12"/>
          <p:cNvSpPr/>
          <p:nvPr/>
        </p:nvSpPr>
        <p:spPr>
          <a:xfrm>
            <a:off x="5440680" y="1572768"/>
            <a:ext cx="3337560" cy="1188720"/>
          </a:xfrm>
          <a:prstGeom prst="rect">
            <a:avLst/>
          </a:prstGeom>
          <a:noFill/>
          <a:ln/>
        </p:spPr>
        <p:txBody>
          <a:bodyPr wrap="square" rtlCol="0" anchor="ctr"/>
          <a:lstStyle/>
          <a:p>
            <a:pPr marL="0" indent="0">
              <a:buNone/>
            </a:pPr>
            <a:r>
              <a:rPr lang="en-US" sz="1000" dirty="0">
                <a:solidFill>
                  <a:srgbClr val="D4C9BC"/>
                </a:solidFill>
                <a:latin typeface="Calibri" pitchFamily="34" charset="0"/>
                <a:ea typeface="Calibri" pitchFamily="34" charset="-122"/>
                <a:cs typeface="Calibri" pitchFamily="34" charset="-120"/>
              </a:rPr>
              <a:t>87 % des fraudes détectées, PR-AUC 0.87, 36 faux positifs sur 56 864 transactions normales. Un résultat que je suis fier de présenter à des équipes métier.</a:t>
            </a:r>
            <a:endParaRPr lang="en-US" sz="1000" dirty="0"/>
          </a:p>
        </p:txBody>
      </p:sp>
      <p:sp>
        <p:nvSpPr>
          <p:cNvPr id="15" name="Shape 13"/>
          <p:cNvSpPr/>
          <p:nvPr/>
        </p:nvSpPr>
        <p:spPr>
          <a:xfrm>
            <a:off x="457200" y="3017520"/>
            <a:ext cx="4114800" cy="1783080"/>
          </a:xfrm>
          <a:prstGeom prst="rect">
            <a:avLst/>
          </a:prstGeom>
          <a:solidFill>
            <a:srgbClr val="2A3B3B"/>
          </a:solidFill>
          <a:ln w="12700">
            <a:solidFill>
              <a:srgbClr val="3A5555"/>
            </a:solidFill>
            <a:prstDash val="solid"/>
          </a:ln>
        </p:spPr>
      </p:sp>
      <p:sp>
        <p:nvSpPr>
          <p:cNvPr id="16" name="Shape 14"/>
          <p:cNvSpPr/>
          <p:nvPr/>
        </p:nvSpPr>
        <p:spPr>
          <a:xfrm>
            <a:off x="457200" y="3017520"/>
            <a:ext cx="530352" cy="1783080"/>
          </a:xfrm>
          <a:prstGeom prst="rect">
            <a:avLst/>
          </a:prstGeom>
          <a:solidFill>
            <a:srgbClr val="B85C38"/>
          </a:solidFill>
          <a:ln w="12700">
            <a:solidFill>
              <a:srgbClr val="B85C38"/>
            </a:solidFill>
            <a:prstDash val="solid"/>
          </a:ln>
        </p:spPr>
      </p:sp>
      <p:sp>
        <p:nvSpPr>
          <p:cNvPr id="17" name="Text 15"/>
          <p:cNvSpPr/>
          <p:nvPr/>
        </p:nvSpPr>
        <p:spPr>
          <a:xfrm>
            <a:off x="457200" y="3017520"/>
            <a:ext cx="530352" cy="1783080"/>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18" name="Text 16"/>
          <p:cNvSpPr/>
          <p:nvPr/>
        </p:nvSpPr>
        <p:spPr>
          <a:xfrm>
            <a:off x="1097280" y="3127248"/>
            <a:ext cx="3337560" cy="320040"/>
          </a:xfrm>
          <a:prstGeom prst="rect">
            <a:avLst/>
          </a:prstGeom>
          <a:noFill/>
          <a:ln/>
        </p:spPr>
        <p:txBody>
          <a:bodyPr wrap="square" rtlCol="0" anchor="ctr"/>
          <a:lstStyle/>
          <a:p>
            <a:pPr marL="0" indent="0">
              <a:buNone/>
            </a:pPr>
            <a:r>
              <a:rPr lang="en-US" sz="1100" b="1" dirty="0">
                <a:solidFill>
                  <a:srgbClr val="FFFFFF"/>
                </a:solidFill>
              </a:rPr>
              <a:t>SHAP pour rendre le ML humain</a:t>
            </a:r>
            <a:endParaRPr lang="en-US" sz="1100" dirty="0"/>
          </a:p>
        </p:txBody>
      </p:sp>
      <p:sp>
        <p:nvSpPr>
          <p:cNvPr id="19" name="Text 17"/>
          <p:cNvSpPr/>
          <p:nvPr/>
        </p:nvSpPr>
        <p:spPr>
          <a:xfrm>
            <a:off x="1097280" y="3493008"/>
            <a:ext cx="3337560" cy="1188720"/>
          </a:xfrm>
          <a:prstGeom prst="rect">
            <a:avLst/>
          </a:prstGeom>
          <a:noFill/>
          <a:ln/>
        </p:spPr>
        <p:txBody>
          <a:bodyPr wrap="square" rtlCol="0" anchor="ctr"/>
          <a:lstStyle/>
          <a:p>
            <a:pPr marL="0" indent="0">
              <a:buNone/>
            </a:pPr>
            <a:r>
              <a:rPr lang="en-US" sz="1000" dirty="0">
                <a:solidFill>
                  <a:srgbClr val="D4C9BC"/>
                </a:solidFill>
                <a:latin typeface="Calibri" pitchFamily="34" charset="0"/>
                <a:ea typeface="Calibri" pitchFamily="34" charset="-122"/>
                <a:cs typeface="Calibri" pitchFamily="34" charset="-120"/>
              </a:rPr>
              <a:t>Ce qui m'a le plus marqué : V14 explique à elle seule une grande partie des prédictions. SHAP m'a permis de comprendre vraiment ce que le modèle "voit".</a:t>
            </a:r>
            <a:endParaRPr lang="en-US" sz="1000" dirty="0"/>
          </a:p>
        </p:txBody>
      </p:sp>
      <p:sp>
        <p:nvSpPr>
          <p:cNvPr id="20" name="Shape 18"/>
          <p:cNvSpPr/>
          <p:nvPr/>
        </p:nvSpPr>
        <p:spPr>
          <a:xfrm>
            <a:off x="4800600" y="3017520"/>
            <a:ext cx="4114800" cy="1783080"/>
          </a:xfrm>
          <a:prstGeom prst="rect">
            <a:avLst/>
          </a:prstGeom>
          <a:solidFill>
            <a:srgbClr val="2A3B3B"/>
          </a:solidFill>
          <a:ln w="12700">
            <a:solidFill>
              <a:srgbClr val="3A5555"/>
            </a:solidFill>
            <a:prstDash val="solid"/>
          </a:ln>
        </p:spPr>
      </p:sp>
      <p:sp>
        <p:nvSpPr>
          <p:cNvPr id="21" name="Shape 19"/>
          <p:cNvSpPr/>
          <p:nvPr/>
        </p:nvSpPr>
        <p:spPr>
          <a:xfrm>
            <a:off x="4800600" y="3017520"/>
            <a:ext cx="530352" cy="1783080"/>
          </a:xfrm>
          <a:prstGeom prst="rect">
            <a:avLst/>
          </a:prstGeom>
          <a:solidFill>
            <a:srgbClr val="4A7068"/>
          </a:solidFill>
          <a:ln w="12700">
            <a:solidFill>
              <a:srgbClr val="4A7068"/>
            </a:solidFill>
            <a:prstDash val="solid"/>
          </a:ln>
        </p:spPr>
      </p:sp>
      <p:sp>
        <p:nvSpPr>
          <p:cNvPr id="22" name="Text 20"/>
          <p:cNvSpPr/>
          <p:nvPr/>
        </p:nvSpPr>
        <p:spPr>
          <a:xfrm>
            <a:off x="4800600" y="3017520"/>
            <a:ext cx="530352" cy="1783080"/>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23" name="Text 21"/>
          <p:cNvSpPr/>
          <p:nvPr/>
        </p:nvSpPr>
        <p:spPr>
          <a:xfrm>
            <a:off x="5440680" y="3127248"/>
            <a:ext cx="3337560" cy="320040"/>
          </a:xfrm>
          <a:prstGeom prst="rect">
            <a:avLst/>
          </a:prstGeom>
          <a:noFill/>
          <a:ln/>
        </p:spPr>
        <p:txBody>
          <a:bodyPr wrap="square" rtlCol="0" anchor="ctr"/>
          <a:lstStyle/>
          <a:p>
            <a:pPr marL="0" indent="0">
              <a:buNone/>
            </a:pPr>
            <a:r>
              <a:rPr lang="en-US" sz="1100" b="1" dirty="0">
                <a:solidFill>
                  <a:srgbClr val="FFFFFF"/>
                </a:solidFill>
              </a:rPr>
              <a:t>Power BI pour parler à tout le monde</a:t>
            </a:r>
            <a:endParaRPr lang="en-US" sz="1100" dirty="0"/>
          </a:p>
        </p:txBody>
      </p:sp>
      <p:sp>
        <p:nvSpPr>
          <p:cNvPr id="24" name="Text 22"/>
          <p:cNvSpPr/>
          <p:nvPr/>
        </p:nvSpPr>
        <p:spPr>
          <a:xfrm>
            <a:off x="5440680" y="3493008"/>
            <a:ext cx="3337560" cy="1188720"/>
          </a:xfrm>
          <a:prstGeom prst="rect">
            <a:avLst/>
          </a:prstGeom>
          <a:noFill/>
          <a:ln/>
        </p:spPr>
        <p:txBody>
          <a:bodyPr wrap="square" rtlCol="0" anchor="ctr"/>
          <a:lstStyle/>
          <a:p>
            <a:pPr marL="0" indent="0">
              <a:buNone/>
            </a:pPr>
            <a:r>
              <a:rPr lang="en-US" sz="1000" dirty="0">
                <a:solidFill>
                  <a:srgbClr val="D4C9BC"/>
                </a:solidFill>
                <a:latin typeface="Calibri" pitchFamily="34" charset="0"/>
                <a:ea typeface="Calibri" pitchFamily="34" charset="-122"/>
                <a:cs typeface="Calibri" pitchFamily="34" charset="-120"/>
              </a:rPr>
              <a:t>Transformer des probabilités en niveaux de risque lisibles, c'est ce qui rend un projet ML utile en entreprise. La data doit servir les décisions, pas seulement impressionner.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1095</Words>
  <Application>Microsoft Office PowerPoint</Application>
  <PresentationFormat>Affichage à l'écran (16:9)</PresentationFormat>
  <Paragraphs>111</Paragraphs>
  <Slides>9</Slides>
  <Notes>9</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9</vt:i4>
      </vt:variant>
    </vt:vector>
  </HeadingPairs>
  <TitlesOfParts>
    <vt:vector size="12"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Détection de Fraude — Zohair EZZOUINE</dc:title>
  <dc:subject>PptxGenJS Presentation</dc:subject>
  <dc:creator>PptxGenJS</dc:creator>
  <cp:lastModifiedBy>zohair ezzouine</cp:lastModifiedBy>
  <cp:revision>1</cp:revision>
  <dcterms:created xsi:type="dcterms:W3CDTF">2026-03-16T12:06:52Z</dcterms:created>
  <dcterms:modified xsi:type="dcterms:W3CDTF">2026-03-17T09:53:28Z</dcterms:modified>
</cp:coreProperties>
</file>